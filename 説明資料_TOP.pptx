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3716000" cy="10287000"/>
  <p:notesSz cx="6858000" cy="9144000"/>
  <p:embeddedFontLst>
    <p:embeddedFont>
      <p:font typeface="游ゴシック" panose="020B0400000000000000" pitchFamily="50" charset="-128"/>
      <p:regular r:id="rId8"/>
      <p:bold r:id="rId9"/>
    </p:embeddedFont>
    <p:embeddedFont>
      <p:font typeface="Gill Sans MT" panose="020B0502020104020203" pitchFamily="34" charset="0"/>
      <p:regular r:id="rId10"/>
      <p:bold r:id="rId11"/>
      <p:italic r:id="rId12"/>
      <p:boldItalic r:id="rId13"/>
    </p:embeddedFont>
    <p:embeddedFont>
      <p:font typeface="Helios Extended Bold" panose="020B0600070205080204" charset="0"/>
      <p:regular r:id="rId14"/>
    </p:embeddedFont>
    <p:embeddedFont>
      <p:font typeface="Iffat" panose="020B0600070205080204" charset="0"/>
      <p:regular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80" d="100"/>
          <a:sy n="80" d="100"/>
        </p:scale>
        <p:origin x="1374" y="120"/>
      </p:cViewPr>
      <p:guideLst>
        <p:guide orient="horz" pos="216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BC2C2-A382-4C4C-9AC2-8BC8EC3E0B0F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1E3EA0-9A8C-49B6-8BE3-937D4C2929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4983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1E3EA0-9A8C-49B6-8BE3-937D4C2929C9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85054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53360" y="3580116"/>
            <a:ext cx="10409280" cy="246888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5250">
                <a:solidFill>
                  <a:srgbClr val="262626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32095" y="6528816"/>
            <a:ext cx="7651814" cy="185984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8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0" algn="ctr">
              <a:buNone/>
              <a:defRPr sz="285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059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613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59636" y="3580116"/>
            <a:ext cx="10410444" cy="246888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5250">
                <a:solidFill>
                  <a:srgbClr val="262626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32095" y="6528698"/>
            <a:ext cx="7651814" cy="1897623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850">
                <a:solidFill>
                  <a:schemeClr val="tx1"/>
                </a:solidFill>
              </a:defRPr>
            </a:lvl1pPr>
            <a:lvl2pPr marL="685800" indent="0">
              <a:buNone/>
              <a:defRPr sz="285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0717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53359" y="3957066"/>
            <a:ext cx="4932035" cy="46529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30606" y="3957066"/>
            <a:ext cx="4935774" cy="4652973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7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358" y="3470152"/>
            <a:ext cx="4932036" cy="1056131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850" b="0" cap="all" spc="15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3358" y="4714875"/>
            <a:ext cx="4932036" cy="389516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30606" y="4714875"/>
            <a:ext cx="4935774" cy="3895164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30606" y="3470152"/>
            <a:ext cx="4935774" cy="1056131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2850" b="0" cap="all" spc="15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685800" indent="0">
              <a:buNone/>
              <a:defRPr sz="285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6335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003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86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858000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61055" y="3365744"/>
            <a:ext cx="4935891" cy="1712246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3150">
                <a:solidFill>
                  <a:srgbClr val="262626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8090" y="1207008"/>
            <a:ext cx="5417820" cy="7872984"/>
          </a:xfrm>
        </p:spPr>
        <p:txBody>
          <a:bodyPr>
            <a:normAutofit/>
          </a:bodyPr>
          <a:lstStyle>
            <a:lvl1pPr>
              <a:defRPr sz="285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400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4448" y="5324877"/>
            <a:ext cx="4269105" cy="3291054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961055" y="9354312"/>
            <a:ext cx="5709597" cy="48006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86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" y="0"/>
            <a:ext cx="6857999" cy="10287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960120" y="3365742"/>
            <a:ext cx="4937760" cy="1714500"/>
          </a:xfrm>
          <a:solidFill>
            <a:srgbClr val="FFFFFF"/>
          </a:solidFill>
          <a:ln>
            <a:solidFill>
              <a:srgbClr val="262626"/>
            </a:solidFill>
          </a:ln>
        </p:spPr>
        <p:txBody>
          <a:bodyPr anchor="ctr" anchorCtr="1">
            <a:noAutofit/>
          </a:bodyPr>
          <a:lstStyle>
            <a:lvl1pPr>
              <a:defRPr sz="3150">
                <a:solidFill>
                  <a:srgbClr val="262626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01" y="-63258"/>
            <a:ext cx="6864860" cy="10287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48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4448" y="5324879"/>
            <a:ext cx="4269105" cy="329105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2250">
                <a:solidFill>
                  <a:srgbClr val="FFFFFF"/>
                </a:solidFill>
              </a:defRPr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960120" y="9354312"/>
            <a:ext cx="5705856" cy="480060"/>
          </a:xfrm>
        </p:spPr>
        <p:txBody>
          <a:bodyPr>
            <a:normAutofit/>
          </a:bodyPr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937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75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4751" y="1405890"/>
            <a:ext cx="1580949" cy="747522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09069" y="1405890"/>
            <a:ext cx="7074261" cy="7475220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02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409068" y="1447038"/>
            <a:ext cx="8906633" cy="178308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09068" y="3957068"/>
            <a:ext cx="8906633" cy="46529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68415" y="9358224"/>
            <a:ext cx="3097965" cy="48595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53359" y="9354312"/>
            <a:ext cx="6834996" cy="4800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0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360168" y="9326880"/>
            <a:ext cx="548640" cy="548640"/>
          </a:xfrm>
          <a:prstGeom prst="ellipse">
            <a:avLst/>
          </a:prstGeom>
          <a:solidFill>
            <a:srgbClr val="1D1D1D">
              <a:alpha val="69804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650" spc="0" baseline="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2AA4572-438A-71CC-FC69-225849E04F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540104" y="63500"/>
            <a:ext cx="654844" cy="115416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ja-JP" altLang="en-US" sz="75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04395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371600" rtl="0" eaLnBrk="1" latinLnBrk="0" hangingPunct="1">
        <a:lnSpc>
          <a:spcPct val="90000"/>
        </a:lnSpc>
        <a:spcBef>
          <a:spcPct val="0"/>
        </a:spcBef>
        <a:buNone/>
        <a:defRPr kumimoji="1" sz="3900" kern="1200" cap="all" spc="3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7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0287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3716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7145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971675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2486025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3200" indent="-342900" algn="l" defTabSz="1371600" rtl="0" eaLnBrk="1" latinLnBrk="0" hangingPunct="1">
        <a:lnSpc>
          <a:spcPct val="100000"/>
        </a:lnSpc>
        <a:spcBef>
          <a:spcPts val="1500"/>
        </a:spcBef>
        <a:buClr>
          <a:schemeClr val="accent2"/>
        </a:buClr>
        <a:buFont typeface="Arial" panose="020B0604020202020204" pitchFamily="34" charset="0"/>
        <a:buChar char="•"/>
        <a:defRPr kumimoji="1" sz="2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kumimoji="1"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&#20351;&#12356;&#26041;&#35500;&#26126;&#12398;&#28858;&#12398;UFS_&#12495;&#12540;&#12489;&#35500;&#26126;&#36039;&#26009;_20260714.pptx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UFS&#12513;&#12514;&#12522;&#20351;&#12356;&#26041;&#27880;&#24847;&#28857;_Ver1.0.pp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285875"/>
            <a:ext cx="13716000" cy="771525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666" b="-666"/>
            </a:stretch>
          </a:blipFill>
        </p:spPr>
        <p:txBody>
          <a:bodyPr/>
          <a:lstStyle/>
          <a:p>
            <a:endParaRPr lang="ja-JP" altLang="en-US" sz="1350"/>
          </a:p>
        </p:txBody>
      </p:sp>
      <p:sp>
        <p:nvSpPr>
          <p:cNvPr id="3" name="Freeform 3"/>
          <p:cNvSpPr/>
          <p:nvPr/>
        </p:nvSpPr>
        <p:spPr>
          <a:xfrm>
            <a:off x="4546982" y="6750958"/>
            <a:ext cx="9496523" cy="4130987"/>
          </a:xfrm>
          <a:custGeom>
            <a:avLst/>
            <a:gdLst/>
            <a:ahLst/>
            <a:cxnLst/>
            <a:rect l="l" t="t" r="r" b="b"/>
            <a:pathLst>
              <a:path w="12662030" h="5507983">
                <a:moveTo>
                  <a:pt x="0" y="0"/>
                </a:moveTo>
                <a:lnTo>
                  <a:pt x="12662031" y="0"/>
                </a:lnTo>
                <a:lnTo>
                  <a:pt x="12662031" y="5507983"/>
                </a:lnTo>
                <a:lnTo>
                  <a:pt x="0" y="5507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ja-JP" altLang="en-US" sz="1350"/>
          </a:p>
        </p:txBody>
      </p:sp>
      <p:sp>
        <p:nvSpPr>
          <p:cNvPr id="4" name="Freeform 4"/>
          <p:cNvSpPr/>
          <p:nvPr/>
        </p:nvSpPr>
        <p:spPr>
          <a:xfrm>
            <a:off x="-4003270" y="-693389"/>
            <a:ext cx="12010308" cy="4128544"/>
          </a:xfrm>
          <a:custGeom>
            <a:avLst/>
            <a:gdLst/>
            <a:ahLst/>
            <a:cxnLst/>
            <a:rect l="l" t="t" r="r" b="b"/>
            <a:pathLst>
              <a:path w="16013744" h="5504725">
                <a:moveTo>
                  <a:pt x="0" y="0"/>
                </a:moveTo>
                <a:lnTo>
                  <a:pt x="16013744" y="0"/>
                </a:lnTo>
                <a:lnTo>
                  <a:pt x="16013744" y="5504725"/>
                </a:lnTo>
                <a:lnTo>
                  <a:pt x="0" y="55047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ja-JP" altLang="en-US" sz="1350"/>
          </a:p>
        </p:txBody>
      </p:sp>
      <p:sp>
        <p:nvSpPr>
          <p:cNvPr id="5" name="Freeform 5"/>
          <p:cNvSpPr/>
          <p:nvPr/>
        </p:nvSpPr>
        <p:spPr>
          <a:xfrm flipH="1">
            <a:off x="-756108" y="4368404"/>
            <a:ext cx="3864341" cy="6178453"/>
          </a:xfrm>
          <a:custGeom>
            <a:avLst/>
            <a:gdLst/>
            <a:ahLst/>
            <a:cxnLst/>
            <a:rect l="l" t="t" r="r" b="b"/>
            <a:pathLst>
              <a:path w="5152455" h="8237937">
                <a:moveTo>
                  <a:pt x="5152455" y="0"/>
                </a:moveTo>
                <a:lnTo>
                  <a:pt x="0" y="0"/>
                </a:lnTo>
                <a:lnTo>
                  <a:pt x="0" y="8237937"/>
                </a:lnTo>
                <a:lnTo>
                  <a:pt x="5152455" y="8237937"/>
                </a:lnTo>
                <a:lnTo>
                  <a:pt x="515245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350"/>
          </a:p>
        </p:txBody>
      </p:sp>
      <p:sp>
        <p:nvSpPr>
          <p:cNvPr id="6" name="Freeform 6"/>
          <p:cNvSpPr/>
          <p:nvPr/>
        </p:nvSpPr>
        <p:spPr>
          <a:xfrm flipV="1">
            <a:off x="10417374" y="-469256"/>
            <a:ext cx="3864341" cy="6178453"/>
          </a:xfrm>
          <a:custGeom>
            <a:avLst/>
            <a:gdLst/>
            <a:ahLst/>
            <a:cxnLst/>
            <a:rect l="l" t="t" r="r" b="b"/>
            <a:pathLst>
              <a:path w="5152455" h="8237937">
                <a:moveTo>
                  <a:pt x="0" y="8237937"/>
                </a:moveTo>
                <a:lnTo>
                  <a:pt x="5152455" y="8237937"/>
                </a:lnTo>
                <a:lnTo>
                  <a:pt x="5152455" y="0"/>
                </a:lnTo>
                <a:lnTo>
                  <a:pt x="0" y="0"/>
                </a:lnTo>
                <a:lnTo>
                  <a:pt x="0" y="823793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350"/>
          </a:p>
        </p:txBody>
      </p:sp>
      <p:sp>
        <p:nvSpPr>
          <p:cNvPr id="7" name="Freeform 7"/>
          <p:cNvSpPr/>
          <p:nvPr/>
        </p:nvSpPr>
        <p:spPr>
          <a:xfrm rot="5400000">
            <a:off x="12342851" y="4212624"/>
            <a:ext cx="1203249" cy="658505"/>
          </a:xfrm>
          <a:custGeom>
            <a:avLst/>
            <a:gdLst/>
            <a:ahLst/>
            <a:cxnLst/>
            <a:rect l="l" t="t" r="r" b="b"/>
            <a:pathLst>
              <a:path w="1604332" h="878007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350"/>
          </a:p>
        </p:txBody>
      </p:sp>
      <p:sp>
        <p:nvSpPr>
          <p:cNvPr id="8" name="Freeform 8"/>
          <p:cNvSpPr/>
          <p:nvPr/>
        </p:nvSpPr>
        <p:spPr>
          <a:xfrm rot="5400000">
            <a:off x="169901" y="5589345"/>
            <a:ext cx="1203249" cy="658505"/>
          </a:xfrm>
          <a:custGeom>
            <a:avLst/>
            <a:gdLst/>
            <a:ahLst/>
            <a:cxnLst/>
            <a:rect l="l" t="t" r="r" b="b"/>
            <a:pathLst>
              <a:path w="1604332" h="878007">
                <a:moveTo>
                  <a:pt x="0" y="0"/>
                </a:moveTo>
                <a:lnTo>
                  <a:pt x="1604332" y="0"/>
                </a:lnTo>
                <a:lnTo>
                  <a:pt x="1604332" y="878007"/>
                </a:lnTo>
                <a:lnTo>
                  <a:pt x="0" y="8780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 sz="1350"/>
          </a:p>
        </p:txBody>
      </p:sp>
      <p:sp>
        <p:nvSpPr>
          <p:cNvPr id="10" name="TextBox 10"/>
          <p:cNvSpPr txBox="1"/>
          <p:nvPr/>
        </p:nvSpPr>
        <p:spPr>
          <a:xfrm>
            <a:off x="2667000" y="6972300"/>
            <a:ext cx="7085898" cy="12824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61"/>
              </a:lnSpc>
            </a:pPr>
            <a:r>
              <a:rPr lang="en-US" altLang="ja-JP" sz="3687" dirty="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2026.07.15</a:t>
            </a:r>
          </a:p>
          <a:p>
            <a:pPr algn="ctr">
              <a:lnSpc>
                <a:spcPts val="5161"/>
              </a:lnSpc>
            </a:pPr>
            <a:r>
              <a:rPr lang="ja-JP" altLang="en-US" sz="3687" dirty="0">
                <a:solidFill>
                  <a:srgbClr val="026263"/>
                </a:solidFill>
                <a:latin typeface="Iffat"/>
                <a:ea typeface="Iffat"/>
                <a:cs typeface="Iffat"/>
                <a:sym typeface="Iffat"/>
              </a:rPr>
              <a:t>電子部品開発室　開発３課　伊藤</a:t>
            </a:r>
            <a:endParaRPr lang="en-US" sz="3687" dirty="0">
              <a:solidFill>
                <a:srgbClr val="026263"/>
              </a:solidFill>
              <a:latin typeface="Iffat"/>
              <a:ea typeface="Iffat"/>
              <a:cs typeface="Iffat"/>
              <a:sym typeface="Iffat"/>
            </a:endParaRP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886EEC6D-141C-6B9E-F3ED-316FB08F197B}"/>
              </a:ext>
            </a:extLst>
          </p:cNvPr>
          <p:cNvSpPr txBox="1"/>
          <p:nvPr/>
        </p:nvSpPr>
        <p:spPr>
          <a:xfrm>
            <a:off x="1512571" y="4078518"/>
            <a:ext cx="9763870" cy="1714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80"/>
              </a:lnSpc>
            </a:pPr>
            <a:r>
              <a:rPr lang="en-US" sz="4400" b="1" dirty="0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UFS</a:t>
            </a:r>
            <a:r>
              <a:rPr lang="ja-JP" altLang="en-US" sz="4400" b="1" dirty="0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メモリソフト使用上の注意点</a:t>
            </a:r>
            <a:endParaRPr lang="en-US" altLang="ja-JP" sz="4400" b="1" dirty="0">
              <a:solidFill>
                <a:srgbClr val="026263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  <a:p>
            <a:pPr algn="ctr">
              <a:lnSpc>
                <a:spcPts val="7080"/>
              </a:lnSpc>
            </a:pPr>
            <a:r>
              <a:rPr lang="ja-JP" altLang="en-US" sz="4400" b="1" dirty="0">
                <a:solidFill>
                  <a:srgbClr val="026263"/>
                </a:solidFill>
                <a:latin typeface="Helios Extended Bold"/>
                <a:ea typeface="Helios Extended Bold"/>
                <a:cs typeface="Helios Extended Bold"/>
                <a:sym typeface="Helios Extended Bold"/>
              </a:rPr>
              <a:t>資料作成報告</a:t>
            </a:r>
            <a:endParaRPr lang="en-US" sz="4400" b="1" dirty="0">
              <a:solidFill>
                <a:srgbClr val="026263"/>
              </a:solidFill>
              <a:latin typeface="Helios Extended Bold"/>
              <a:ea typeface="Helios Extended Bold"/>
              <a:cs typeface="Helios Extended Bold"/>
              <a:sym typeface="Helios Extended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0F3283-B6BB-38F6-D3CC-6F705FAA7F87}"/>
              </a:ext>
            </a:extLst>
          </p:cNvPr>
          <p:cNvSpPr txBox="1"/>
          <p:nvPr/>
        </p:nvSpPr>
        <p:spPr>
          <a:xfrm>
            <a:off x="838200" y="1866900"/>
            <a:ext cx="4191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dirty="0"/>
              <a:t>インデックス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02C426BD-6353-3E80-5D97-8736BDE3BE30}"/>
              </a:ext>
            </a:extLst>
          </p:cNvPr>
          <p:cNvSpPr txBox="1">
            <a:spLocks/>
          </p:cNvSpPr>
          <p:nvPr/>
        </p:nvSpPr>
        <p:spPr>
          <a:xfrm>
            <a:off x="1143000" y="2361010"/>
            <a:ext cx="6324600" cy="2782490"/>
          </a:xfrm>
          <a:prstGeom prst="rect">
            <a:avLst/>
          </a:prstGeom>
        </p:spPr>
        <p:txBody>
          <a:bodyPr vert="horz" lIns="0" tIns="342900" rIns="0" bIns="0" rtlCol="0">
            <a:normAutofit/>
          </a:bodyPr>
          <a:lstStyle>
            <a:defPPr>
              <a:defRPr lang="ja-JP"/>
            </a:defPPr>
            <a:lvl1pPr marL="3429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7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7167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602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dirty="0"/>
          </a:p>
          <a:p>
            <a:r>
              <a:rPr lang="ja-JP" altLang="en-US" dirty="0"/>
              <a:t>本資料の作成目的</a:t>
            </a:r>
            <a:endParaRPr lang="ja-JP" altLang="ja-JP" dirty="0"/>
          </a:p>
          <a:p>
            <a:r>
              <a:rPr lang="ja-JP" altLang="en-US" dirty="0"/>
              <a:t>資料説明の為の</a:t>
            </a:r>
            <a:r>
              <a:rPr lang="en-US" altLang="ja-JP" dirty="0"/>
              <a:t>UFS</a:t>
            </a:r>
            <a:r>
              <a:rPr lang="ja-JP" altLang="en-US" dirty="0"/>
              <a:t>ハード説明</a:t>
            </a:r>
            <a:endParaRPr lang="ja-JP" dirty="0"/>
          </a:p>
          <a:p>
            <a:r>
              <a:rPr lang="en-US" altLang="ja-JP" dirty="0"/>
              <a:t>UFS</a:t>
            </a:r>
            <a:r>
              <a:rPr lang="ja-JP" altLang="en-US" dirty="0"/>
              <a:t>メモリ使い方注意点資料の説明</a:t>
            </a:r>
            <a:endParaRPr lang="en-US" altLang="ja-JP" dirty="0"/>
          </a:p>
          <a:p>
            <a:pPr marL="0" indent="0">
              <a:buNone/>
            </a:pP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76985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47E77C-D084-3DC5-C0F2-E418878AA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BE7377-B475-54D8-9BE3-4F97BF88431E}"/>
              </a:ext>
            </a:extLst>
          </p:cNvPr>
          <p:cNvSpPr txBox="1"/>
          <p:nvPr/>
        </p:nvSpPr>
        <p:spPr>
          <a:xfrm>
            <a:off x="838200" y="1866900"/>
            <a:ext cx="52578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dirty="0"/>
              <a:t>本資料の作成目的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95948132-18FE-1376-22B0-290AF94B2978}"/>
              </a:ext>
            </a:extLst>
          </p:cNvPr>
          <p:cNvSpPr txBox="1">
            <a:spLocks/>
          </p:cNvSpPr>
          <p:nvPr/>
        </p:nvSpPr>
        <p:spPr>
          <a:xfrm>
            <a:off x="874294" y="2251620"/>
            <a:ext cx="12613106" cy="4644480"/>
          </a:xfrm>
          <a:prstGeom prst="rect">
            <a:avLst/>
          </a:prstGeom>
        </p:spPr>
        <p:txBody>
          <a:bodyPr vert="horz" lIns="0" tIns="342900" rIns="0" bIns="0" rtlCol="0">
            <a:normAutofit/>
          </a:bodyPr>
          <a:lstStyle>
            <a:defPPr>
              <a:defRPr lang="ja-JP"/>
            </a:defPPr>
            <a:lvl1pPr marL="3429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7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7167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602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dirty="0"/>
          </a:p>
          <a:p>
            <a:pPr marL="0" indent="0">
              <a:lnSpc>
                <a:spcPts val="4060"/>
              </a:lnSpc>
              <a:buNone/>
            </a:pP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主旨　 </a:t>
            </a:r>
            <a:r>
              <a:rPr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UFS</a:t>
            </a: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メモリを初めて採用する開発者向けに、製品設計時の注意事項、推奨</a:t>
            </a:r>
            <a:br>
              <a:rPr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         </a:t>
            </a: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運用事項を記載したガイドライン。 </a:t>
            </a:r>
            <a:endParaRPr lang="en-US" altLang="ja-JP" sz="28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lnSpc>
                <a:spcPts val="4060"/>
              </a:lnSpc>
              <a:buNone/>
            </a:pP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背景　 大容量、高速化のニーズの高まりを背景に</a:t>
            </a:r>
            <a:r>
              <a:rPr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UFS</a:t>
            </a: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メモリの採用が進む一方、</a:t>
            </a:r>
            <a:br>
              <a:rPr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　　 誤った運用は性能や信頼性に影響を及ぼす可能性がある。</a:t>
            </a:r>
            <a:r>
              <a:rPr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UFS</a:t>
            </a: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の各種機能</a:t>
            </a:r>
            <a:br>
              <a:rPr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　　　　 を正しく理解し、適切な設計判断を行うためのガイドラインとする。</a:t>
            </a:r>
            <a:endParaRPr lang="en-US" altLang="ja-JP" sz="28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lnSpc>
                <a:spcPts val="4060"/>
              </a:lnSpc>
              <a:buNone/>
            </a:pPr>
            <a:r>
              <a:rPr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対象    システム設計担当者、ソフトウエア開発担当者、ストレージ評価担当者</a:t>
            </a:r>
            <a:endParaRPr lang="ja-JP" altLang="ja-JP" dirty="0"/>
          </a:p>
          <a:p>
            <a:pPr marL="0" indent="0">
              <a:buNone/>
            </a:pP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3485247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8674B-80DB-65DF-1E3D-DFDC5C715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CB4FCA-8B2E-BE47-8DFC-25514B5FF79B}"/>
              </a:ext>
            </a:extLst>
          </p:cNvPr>
          <p:cNvSpPr txBox="1"/>
          <p:nvPr/>
        </p:nvSpPr>
        <p:spPr>
          <a:xfrm>
            <a:off x="838200" y="1866900"/>
            <a:ext cx="9296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4400" dirty="0"/>
              <a:t>資料説明の為の</a:t>
            </a:r>
            <a:r>
              <a:rPr lang="en-US" altLang="ja-JP" sz="4400" dirty="0"/>
              <a:t>UFS</a:t>
            </a:r>
            <a:r>
              <a:rPr lang="ja-JP" altLang="en-US" sz="4400" dirty="0"/>
              <a:t>ハード説明</a:t>
            </a:r>
            <a:endParaRPr lang="ja-JP" altLang="ja-JP" sz="4400" dirty="0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146C34AC-DA69-E6B6-A238-CA7F46840EC5}"/>
              </a:ext>
            </a:extLst>
          </p:cNvPr>
          <p:cNvSpPr txBox="1">
            <a:spLocks/>
          </p:cNvSpPr>
          <p:nvPr/>
        </p:nvSpPr>
        <p:spPr>
          <a:xfrm>
            <a:off x="838200" y="2251620"/>
            <a:ext cx="12613106" cy="4644480"/>
          </a:xfrm>
          <a:prstGeom prst="rect">
            <a:avLst/>
          </a:prstGeom>
        </p:spPr>
        <p:txBody>
          <a:bodyPr vert="horz" lIns="0" tIns="342900" rIns="0" bIns="0" rtlCol="0">
            <a:normAutofit/>
          </a:bodyPr>
          <a:lstStyle>
            <a:defPPr>
              <a:defRPr lang="ja-JP"/>
            </a:defPPr>
            <a:lvl1pPr marL="3429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7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7167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602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dirty="0"/>
          </a:p>
          <a:p>
            <a:pPr marL="0" indent="0">
              <a:lnSpc>
                <a:spcPts val="4060"/>
              </a:lnSpc>
              <a:buNone/>
            </a:pPr>
            <a:endParaRPr lang="ja-JP" dirty="0"/>
          </a:p>
        </p:txBody>
      </p:sp>
      <p:sp>
        <p:nvSpPr>
          <p:cNvPr id="2" name="テキスト プレースホルダー 2">
            <a:extLst>
              <a:ext uri="{FF2B5EF4-FFF2-40B4-BE49-F238E27FC236}">
                <a16:creationId xmlns:a16="http://schemas.microsoft.com/office/drawing/2014/main" id="{F3AE9A2C-CAE8-668C-412F-FE42464769A6}"/>
              </a:ext>
            </a:extLst>
          </p:cNvPr>
          <p:cNvSpPr txBox="1">
            <a:spLocks/>
          </p:cNvSpPr>
          <p:nvPr/>
        </p:nvSpPr>
        <p:spPr>
          <a:xfrm>
            <a:off x="1143000" y="2705100"/>
            <a:ext cx="7239000" cy="2782490"/>
          </a:xfrm>
          <a:prstGeom prst="rect">
            <a:avLst/>
          </a:prstGeom>
        </p:spPr>
        <p:txBody>
          <a:bodyPr vert="horz" lIns="0" tIns="342900" rIns="0" bIns="0" rtlCol="0">
            <a:normAutofit/>
          </a:bodyPr>
          <a:lstStyle>
            <a:defPPr>
              <a:defRPr lang="ja-JP"/>
            </a:defPPr>
            <a:lvl1pPr marL="3429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7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7167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602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dirty="0"/>
          </a:p>
          <a:p>
            <a:r>
              <a:rPr lang="ja-JP" altLang="en-US" dirty="0">
                <a:hlinkClick r:id="rId2" action="ppaction://hlinkpres?slideindex=1&amp;slidetitle="/>
              </a:rPr>
              <a:t>リンク　資料説明の為の</a:t>
            </a:r>
            <a:r>
              <a:rPr lang="en-US" altLang="ja-JP" dirty="0">
                <a:hlinkClick r:id="rId2" action="ppaction://hlinkpres?slideindex=1&amp;slidetitle="/>
              </a:rPr>
              <a:t>UFS</a:t>
            </a:r>
            <a:r>
              <a:rPr lang="ja-JP" altLang="en-US" dirty="0">
                <a:hlinkClick r:id="rId2" action="ppaction://hlinkpres?slideindex=1&amp;slidetitle="/>
              </a:rPr>
              <a:t>ハード説明</a:t>
            </a:r>
            <a:endParaRPr lang="ja-JP" dirty="0"/>
          </a:p>
          <a:p>
            <a:pPr marL="0" indent="0">
              <a:buNone/>
            </a:pP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822670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17380-B378-947E-4CAF-E5E130161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459F34-5B94-FED5-1C3B-F97E6BDC0962}"/>
              </a:ext>
            </a:extLst>
          </p:cNvPr>
          <p:cNvSpPr txBox="1"/>
          <p:nvPr/>
        </p:nvSpPr>
        <p:spPr>
          <a:xfrm>
            <a:off x="838200" y="1866900"/>
            <a:ext cx="9296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4400" dirty="0"/>
              <a:t>UFS</a:t>
            </a:r>
            <a:r>
              <a:rPr lang="ja-JP" altLang="en-US" sz="4400" dirty="0"/>
              <a:t>メモリ使い方注意点資料の説明</a:t>
            </a:r>
            <a:endParaRPr lang="en-US" altLang="ja-JP" sz="4400" dirty="0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E84CCDA5-3462-2D16-14F6-DB960E286F69}"/>
              </a:ext>
            </a:extLst>
          </p:cNvPr>
          <p:cNvSpPr txBox="1">
            <a:spLocks/>
          </p:cNvSpPr>
          <p:nvPr/>
        </p:nvSpPr>
        <p:spPr>
          <a:xfrm>
            <a:off x="874294" y="2251620"/>
            <a:ext cx="12613106" cy="4644480"/>
          </a:xfrm>
          <a:prstGeom prst="rect">
            <a:avLst/>
          </a:prstGeom>
        </p:spPr>
        <p:txBody>
          <a:bodyPr vert="horz" lIns="0" tIns="342900" rIns="0" bIns="0" rtlCol="0">
            <a:normAutofit/>
          </a:bodyPr>
          <a:lstStyle>
            <a:defPPr>
              <a:defRPr lang="ja-JP"/>
            </a:defPPr>
            <a:lvl1pPr marL="3429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7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7167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602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dirty="0"/>
          </a:p>
          <a:p>
            <a:pPr marL="0" indent="0">
              <a:lnSpc>
                <a:spcPts val="4060"/>
              </a:lnSpc>
              <a:buNone/>
            </a:pPr>
            <a:endParaRPr lang="ja-JP" dirty="0"/>
          </a:p>
        </p:txBody>
      </p:sp>
      <p:sp>
        <p:nvSpPr>
          <p:cNvPr id="4" name="テキスト プレースホルダー 2">
            <a:extLst>
              <a:ext uri="{FF2B5EF4-FFF2-40B4-BE49-F238E27FC236}">
                <a16:creationId xmlns:a16="http://schemas.microsoft.com/office/drawing/2014/main" id="{5CA5BBFC-CD23-9919-A949-FB797FA8ACEC}"/>
              </a:ext>
            </a:extLst>
          </p:cNvPr>
          <p:cNvSpPr txBox="1">
            <a:spLocks/>
          </p:cNvSpPr>
          <p:nvPr/>
        </p:nvSpPr>
        <p:spPr>
          <a:xfrm>
            <a:off x="1143000" y="2705100"/>
            <a:ext cx="7696200" cy="2782490"/>
          </a:xfrm>
          <a:prstGeom prst="rect">
            <a:avLst/>
          </a:prstGeom>
        </p:spPr>
        <p:txBody>
          <a:bodyPr vert="horz" lIns="0" tIns="342900" rIns="0" bIns="0" rtlCol="0">
            <a:normAutofit/>
          </a:bodyPr>
          <a:lstStyle>
            <a:defPPr>
              <a:defRPr lang="ja-JP"/>
            </a:defPPr>
            <a:lvl1pPr marL="3429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7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97167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86025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-342900" algn="l" defTabSz="1371600" rtl="0" eaLnBrk="1" latinLnBrk="0" hangingPunct="1">
              <a:lnSpc>
                <a:spcPct val="100000"/>
              </a:lnSpc>
              <a:spcBef>
                <a:spcPts val="1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kumimoji="1" sz="2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ja-JP" dirty="0"/>
          </a:p>
          <a:p>
            <a:r>
              <a:rPr lang="ja-JP" altLang="en-US" dirty="0">
                <a:hlinkClick r:id="rId2" action="ppaction://hlinkpres?slideindex=1&amp;slidetitle="/>
              </a:rPr>
              <a:t>リンク　</a:t>
            </a:r>
            <a:r>
              <a:rPr lang="en-US" altLang="ja-JP" dirty="0">
                <a:hlinkClick r:id="rId2" action="ppaction://hlinkpres?slideindex=1&amp;slidetitle="/>
              </a:rPr>
              <a:t>UFS</a:t>
            </a:r>
            <a:r>
              <a:rPr lang="ja-JP" altLang="en-US" dirty="0">
                <a:hlinkClick r:id="rId2" action="ppaction://hlinkpres?slideindex=1&amp;slidetitle="/>
              </a:rPr>
              <a:t>メモリ使い方注意点資料の説明</a:t>
            </a:r>
            <a:endParaRPr lang="en-US" altLang="ja-JP" dirty="0"/>
          </a:p>
          <a:p>
            <a:pPr marL="0" indent="0">
              <a:buNone/>
            </a:pP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1457284063"/>
      </p:ext>
    </p:extLst>
  </p:cSld>
  <p:clrMapOvr>
    <a:masterClrMapping/>
  </p:clrMapOvr>
</p:sld>
</file>

<file path=ppt/theme/theme1.xml><?xml version="1.0" encoding="utf-8"?>
<a:theme xmlns:a="http://schemas.openxmlformats.org/drawingml/2006/main" name="パーセル">
  <a:themeElements>
    <a:clrScheme name="パーセル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パーセル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パーセル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パーセル</Template>
  <TotalTime>52</TotalTime>
  <Words>169</Words>
  <Application>Microsoft Office PowerPoint</Application>
  <PresentationFormat>ユーザー設定</PresentationFormat>
  <Paragraphs>21</Paragraphs>
  <Slides>5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3" baseType="lpstr">
      <vt:lpstr>Helios Extended Bold</vt:lpstr>
      <vt:lpstr>Aptos</vt:lpstr>
      <vt:lpstr>ＭＳ Ｐゴシック</vt:lpstr>
      <vt:lpstr>Gill Sans MT</vt:lpstr>
      <vt:lpstr>Arial</vt:lpstr>
      <vt:lpstr>Iffat</vt:lpstr>
      <vt:lpstr>游ゴシック</vt:lpstr>
      <vt:lpstr>パーセル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HIROYA ITO</dc:creator>
  <cp:lastModifiedBy>Hiroya Ito (伊藤 浩也)</cp:lastModifiedBy>
  <cp:revision>11</cp:revision>
  <dcterms:created xsi:type="dcterms:W3CDTF">2006-08-16T00:00:00Z</dcterms:created>
  <dcterms:modified xsi:type="dcterms:W3CDTF">2026-07-14T02:34:47Z</dcterms:modified>
  <dc:identifier>DAHPUSedj9Q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ed1414a-99f2-46f9-bbe5-740af8d1b502_Enabled">
    <vt:lpwstr>true</vt:lpwstr>
  </property>
  <property fmtid="{D5CDD505-2E9C-101B-9397-08002B2CF9AE}" pid="3" name="MSIP_Label_7ed1414a-99f2-46f9-bbe5-740af8d1b502_SetDate">
    <vt:lpwstr>2026-07-14T01:31:05Z</vt:lpwstr>
  </property>
  <property fmtid="{D5CDD505-2E9C-101B-9397-08002B2CF9AE}" pid="4" name="MSIP_Label_7ed1414a-99f2-46f9-bbe5-740af8d1b502_Method">
    <vt:lpwstr>Standard</vt:lpwstr>
  </property>
  <property fmtid="{D5CDD505-2E9C-101B-9397-08002B2CF9AE}" pid="5" name="MSIP_Label_7ed1414a-99f2-46f9-bbe5-740af8d1b502_Name">
    <vt:lpwstr>G_MIP_Confidential_Standard</vt:lpwstr>
  </property>
  <property fmtid="{D5CDD505-2E9C-101B-9397-08002B2CF9AE}" pid="6" name="MSIP_Label_7ed1414a-99f2-46f9-bbe5-740af8d1b502_SiteId">
    <vt:lpwstr>69405920-b673-4f7c-8845-e124e9d08af2</vt:lpwstr>
  </property>
  <property fmtid="{D5CDD505-2E9C-101B-9397-08002B2CF9AE}" pid="7" name="MSIP_Label_7ed1414a-99f2-46f9-bbe5-740af8d1b502_ActionId">
    <vt:lpwstr>8821af4b-ddb9-4e21-9104-0dc412c5fd82</vt:lpwstr>
  </property>
  <property fmtid="{D5CDD505-2E9C-101B-9397-08002B2CF9AE}" pid="8" name="MSIP_Label_7ed1414a-99f2-46f9-bbe5-740af8d1b502_ContentBits">
    <vt:lpwstr>1</vt:lpwstr>
  </property>
  <property fmtid="{D5CDD505-2E9C-101B-9397-08002B2CF9AE}" pid="9" name="MSIP_Label_7ed1414a-99f2-46f9-bbe5-740af8d1b502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CONFIDENTIAL</vt:lpwstr>
  </property>
</Properties>
</file>