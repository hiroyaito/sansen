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9" r:id="rId3"/>
    <p:sldId id="275" r:id="rId4"/>
    <p:sldId id="276" r:id="rId5"/>
    <p:sldId id="277" r:id="rId6"/>
    <p:sldId id="279" r:id="rId7"/>
    <p:sldId id="280" r:id="rId8"/>
    <p:sldId id="270" r:id="rId9"/>
    <p:sldId id="271" r:id="rId10"/>
    <p:sldId id="272" r:id="rId11"/>
    <p:sldId id="278" r:id="rId12"/>
    <p:sldId id="273" r:id="rId13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5F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A076F5-9AD5-5592-AB3B-C5B17FB85031}" v="76" dt="2026-05-25T15:27:59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70CCA-E613-4006-88D6-7487C09CBAB1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A69FD-3F82-489A-8338-4E463ADB79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1523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C317B-7CC0-49F3-AF73-77180FBC0122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72B29-0B45-4676-B0B4-8787B06317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017565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1CAFD-6E45-4A00-8954-5138E9414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D6F915-582C-439C-AA24-3F65E149A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727452-0842-4359-A4B4-3A43379F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B6BF-8BF4-438F-986C-B9B57CB546F8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EF5CEB-3739-4B63-884A-AC4D2A3D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1D084-DD5F-46FE-A36E-113D0037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16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8F134-1846-406C-B959-23F5D997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0AA820-6444-4469-B184-60E44A914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13A99-5DDF-40D4-9230-EE24D5B0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A516-ABFF-468F-9F51-11295DC7FCB5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73854D-6EA5-4DEF-ABC0-4DE6FC3F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531893-D6A1-40BE-B70B-601E4BF0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70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DC68A0-530A-467B-8AD9-5A223FF4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70C439-C2FF-4E3E-8A05-1646CDB4B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6C4C80-A71A-446C-AA28-AB056775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D9D46-8B28-4FE8-A536-96BF53925FB3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97595C-0A0D-4E56-9192-8496DC60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FB8843-D016-4B42-A0D7-7AA6100C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039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83CF8F-F6CB-4BDF-8703-AAEADF8A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91CEE3-0438-49B8-91D7-5A0573205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90C337-FB30-4026-93D2-6C2AB113A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A8E611-E186-479B-95BD-F4A2AAB9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6FD81-F6A0-4CD7-B2F9-D6801EE7FB58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D36426-DFC9-474A-828D-C3199582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6A67E0-5E59-4580-BFA3-B08FAE5B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53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8475F-70D2-4573-8B80-D9B264A9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B1BB0D-DF51-4E31-984F-A0D06DF3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D1BC95-5400-43FC-B331-0B70FE2B0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5D303A-1AE6-4C6A-889E-DE3731C27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22274D0-3425-436D-AA05-6DE5FBBD5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91BD9D-0ABB-48FD-99B2-58C43F4F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9117-64D0-485F-A88A-1DB132CBFFA3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8470C1-FB4F-4BBD-B1B6-2411B276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8684E8-71AF-419A-96BE-E1FE65C4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46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2C3521-3306-4E07-8C27-B14D91EC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2F7DCC-2B3E-4D88-AE6A-B5FF41AF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BA22-49A8-4D13-BA4D-904E30E4C09C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961C19-CFF3-41E8-9BDC-6445C024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D154D37-EE46-4B78-B3A3-12B5762E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5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AE4A60-89A3-4404-A233-B457D06CF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FC76-6D47-4306-AE53-5904CEA81B8D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B2C89E-C1D4-4D11-ACD9-AF3CCEE8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1AEC9D-74FE-4059-BFE8-F035A1B5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07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04DAE-9422-41E4-84C0-E99BD984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C683F3-D2A1-4AC1-B996-FC750FCCE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92254B-988B-4E71-8A4E-5FD557E89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8C2AA9-AB58-49B5-BE60-9FD08B26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9BF8-7A3F-47D3-8BEE-85D44D054918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7F81E9-0581-4BE2-B38E-A22391C9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504D09-C30F-402E-82A7-85916BCE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77648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FE4D0C-0BE4-4344-ADEC-0F71E86B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B0CB4C8-F1BB-454E-A169-75F443C22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D2E69A-65C5-4DF8-A194-EC8A3D717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E2C6B3-0ACA-4C8C-A8CE-A5707AC3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84CE-472D-43C7-B072-ED364692F5A2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23F967-139A-4503-92EC-A117A6C0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6485D5-1DAD-4F93-ABED-56B8C6A4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24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FA7C7-0744-4E2E-8199-286F7322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0C728F-A894-49A0-9742-DE5CA9F7E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637E53-D5C6-41A8-84F0-E7EDDD8D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9BF8-7A3F-47D3-8BEE-85D44D054918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8EA65D-F9AA-4B53-B3E8-82D38F8C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AA2A6A-329C-4A4E-AD82-80BC77154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07668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D68621C-3025-43A4-AB14-5309CFE72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D7F73C-331A-47FC-AFC4-71775366A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20DC6-058A-44E9-BA54-6E2C1833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CF09-AA56-49FD-A9FA-1B82F0242FB0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CF6D58-839D-4209-82D1-7EE674E1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35069A-B5A4-4DCA-AA14-8500A005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72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BD66697-CED7-4B3A-B223-E664B834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D28A40-29A1-43C3-A5B9-61204E4AE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0E1D19-1BF1-441D-B93D-11DE2C9CA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39BF8-7A3F-47D3-8BEE-85D44D054918}" type="datetime1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370F68-0836-4381-80E2-449754E4A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814DAF-9130-4CF5-9C61-2DF4BA142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0EFB0C-9204-4F2B-0099-AF65ABD2371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148138" y="63500"/>
            <a:ext cx="873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694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79271" y="1072938"/>
            <a:ext cx="7543800" cy="1088571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4800"/>
              <a:t>業務経歴＆スキル概略資料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379AEA0-8A11-4D78-B1FE-0B141A29A2A4}"/>
              </a:ext>
            </a:extLst>
          </p:cNvPr>
          <p:cNvSpPr txBox="1">
            <a:spLocks/>
          </p:cNvSpPr>
          <p:nvPr/>
        </p:nvSpPr>
        <p:spPr>
          <a:xfrm>
            <a:off x="1161089" y="2679757"/>
            <a:ext cx="6980164" cy="24126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400">
                <a:ea typeface="游ゴシック"/>
              </a:rPr>
              <a:t>１．業務経歴①～⑥</a:t>
            </a:r>
            <a:endParaRPr lang="en-US" altLang="ja-JP" sz="2400"/>
          </a:p>
          <a:p>
            <a:pPr algn="l"/>
            <a:r>
              <a:rPr lang="ja-JP" altLang="en-US" sz="2400"/>
              <a:t>２．</a:t>
            </a:r>
            <a:r>
              <a:rPr lang="en-US" altLang="ja-JP" sz="2400"/>
              <a:t>S</a:t>
            </a:r>
            <a:r>
              <a:rPr lang="ja-JP" altLang="en-US" sz="2400"/>
              <a:t>社での知識とスキル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３．</a:t>
            </a:r>
            <a:r>
              <a:rPr lang="en-US" altLang="ja-JP" sz="2400"/>
              <a:t>N</a:t>
            </a:r>
            <a:r>
              <a:rPr lang="ja-JP" altLang="en-US" sz="2400"/>
              <a:t>社での知識とスキル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４．</a:t>
            </a:r>
            <a:r>
              <a:rPr lang="en-US" altLang="ja-JP" sz="2400"/>
              <a:t>M</a:t>
            </a:r>
            <a:r>
              <a:rPr lang="ja-JP" altLang="en-US" sz="2400"/>
              <a:t>社での知識とスキル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５．現職での知識とスキル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６．基板製作スキル</a:t>
            </a:r>
            <a:endParaRPr lang="en-US" altLang="ja-JP" sz="240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387A602-A543-47BC-BBE2-B29BFA57114A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9B62719-66F2-4119-A9BC-86C9AC386E4C}"/>
              </a:ext>
            </a:extLst>
          </p:cNvPr>
          <p:cNvSpPr txBox="1"/>
          <p:nvPr/>
        </p:nvSpPr>
        <p:spPr>
          <a:xfrm>
            <a:off x="5184921" y="5493565"/>
            <a:ext cx="3238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/>
              <a:t>株式会社 </a:t>
            </a:r>
            <a:r>
              <a:rPr lang="en-US" altLang="ja-JP" sz="1200"/>
              <a:t>BREXA Technology</a:t>
            </a:r>
            <a:r>
              <a:rPr lang="ja-JP" altLang="en-US" sz="1200"/>
              <a:t> </a:t>
            </a:r>
            <a:endParaRPr lang="en-US" altLang="ja-JP" sz="1200"/>
          </a:p>
          <a:p>
            <a:pPr algn="ctr"/>
            <a:r>
              <a:rPr kumimoji="1" lang="ja-JP" altLang="en-US" sz="1200"/>
              <a:t>伊藤浩也</a:t>
            </a:r>
          </a:p>
        </p:txBody>
      </p:sp>
    </p:spTree>
    <p:extLst>
      <p:ext uri="{BB962C8B-B14F-4D97-AF65-F5344CB8AC3E}">
        <p14:creationId xmlns:p14="http://schemas.microsoft.com/office/powerpoint/2010/main" val="76565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991596-09DB-4736-97C6-A00CAE33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１．業務経歴①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BCFD49-5371-423C-A1AC-D09F57AE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38A7E03-92ED-4141-8945-70474BC28289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7" name="表 7">
            <a:extLst>
              <a:ext uri="{FF2B5EF4-FFF2-40B4-BE49-F238E27FC236}">
                <a16:creationId xmlns:a16="http://schemas.microsoft.com/office/drawing/2014/main" id="{22B0D685-DEAC-4FB1-A075-64EB34813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52148"/>
              </p:ext>
            </p:extLst>
          </p:nvPr>
        </p:nvGraphicFramePr>
        <p:xfrm>
          <a:off x="693490" y="1536342"/>
          <a:ext cx="782186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1. S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カメラ用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、携帯用画像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、携帯用オーディオ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、ボイスレコーダ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、液晶</a:t>
                      </a:r>
                      <a:r>
                        <a:rPr kumimoji="1" lang="en-US" altLang="ja-JP"/>
                        <a:t>TV</a:t>
                      </a:r>
                      <a:r>
                        <a:rPr kumimoji="1" lang="ja-JP" altLang="en-US"/>
                        <a:t>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、スマートホン用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、タッチセンサ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</a:t>
                      </a:r>
                      <a:r>
                        <a:rPr kumimoji="1" lang="en-US" altLang="ja-JP"/>
                        <a:t>ARM</a:t>
                      </a:r>
                      <a:r>
                        <a:rPr kumimoji="1" lang="ja-JP" altLang="en-US"/>
                        <a:t>搭載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、車載用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、人体センサ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、カスタム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</a:t>
                      </a:r>
                      <a:r>
                        <a:rPr kumimoji="1" lang="en-US" altLang="ja-JP"/>
                        <a:t>USB</a:t>
                      </a:r>
                      <a:r>
                        <a:rPr kumimoji="1" lang="ja-JP" altLang="en-US"/>
                        <a:t>スイッチ</a:t>
                      </a:r>
                      <a:r>
                        <a:rPr kumimoji="1" lang="en-US" altLang="ja-JP"/>
                        <a:t>LSI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設計開発（アナログ、デジタル）、評価業務（テスト、評価ソフト、評価基板）、ユーザサポート、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企画＆拡販。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/>
                        <a:t>CMOS</a:t>
                      </a:r>
                      <a:r>
                        <a:rPr kumimoji="1" lang="ja-JP" altLang="en-US"/>
                        <a:t>アナログフロントエンド、</a:t>
                      </a:r>
                      <a:r>
                        <a:rPr kumimoji="1" lang="en-US" altLang="ja-JP"/>
                        <a:t>CMOS</a:t>
                      </a:r>
                      <a:r>
                        <a:rPr kumimoji="1" lang="ja-JP" altLang="en-US"/>
                        <a:t>アナログ回路、バイポーラ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設計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カメラ＆画像信号処理設計、</a:t>
                      </a:r>
                      <a:r>
                        <a:rPr kumimoji="1" lang="en-US" altLang="ja-JP" err="1"/>
                        <a:t>verilog</a:t>
                      </a:r>
                      <a:r>
                        <a:rPr kumimoji="1" lang="ja-JP" altLang="en-US"/>
                        <a:t>による大規模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設計</a:t>
                      </a:r>
                      <a:r>
                        <a:rPr kumimoji="1" lang="en-US" altLang="ja-JP"/>
                        <a:t>(60</a:t>
                      </a:r>
                      <a:r>
                        <a:rPr kumimoji="1" lang="ja-JP" altLang="en-US"/>
                        <a:t>万ゲート程度</a:t>
                      </a:r>
                      <a:r>
                        <a:rPr kumimoji="1" lang="en-US" altLang="ja-JP"/>
                        <a:t>)</a:t>
                      </a:r>
                      <a:r>
                        <a:rPr kumimoji="1" lang="ja-JP" altLang="en-US"/>
                        <a:t>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/>
                        <a:t>FPGA</a:t>
                      </a:r>
                      <a:r>
                        <a:rPr kumimoji="1" lang="ja-JP" altLang="en-US"/>
                        <a:t>開発</a:t>
                      </a:r>
                      <a:r>
                        <a:rPr kumimoji="1" lang="en-US" altLang="ja-JP"/>
                        <a:t>(</a:t>
                      </a:r>
                      <a:r>
                        <a:rPr kumimoji="1" lang="ja-JP" altLang="en-US"/>
                        <a:t>アルテラ、ザイリンクス</a:t>
                      </a:r>
                      <a:r>
                        <a:rPr kumimoji="1" lang="en-US" altLang="ja-JP"/>
                        <a:t>Virtex2)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＆画質評価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デモ＆評価ボード作成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23" name="図 22">
            <a:extLst>
              <a:ext uri="{FF2B5EF4-FFF2-40B4-BE49-F238E27FC236}">
                <a16:creationId xmlns:a16="http://schemas.microsoft.com/office/drawing/2014/main" id="{ED044597-A64E-47D8-870A-9337F533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914" y="4727704"/>
            <a:ext cx="1186082" cy="87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5BAA7649-4EB7-499C-B04E-C88D2A5F1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512" y="4792725"/>
            <a:ext cx="1282269" cy="74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33C61E2F-CD3B-4FCC-9E64-ECD727B53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239" y="4424023"/>
            <a:ext cx="2403403" cy="179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5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69BD05-29C5-46E5-90BA-4364F03B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/>
              <a:t>１．業務経歴②</a:t>
            </a:r>
            <a:endParaRPr kumimoji="1" lang="ja-JP" altLang="en-US">
              <a:latin typeface="ＭＳ ゴシック" panose="020B0609070205080204" pitchFamily="49" charset="-128"/>
              <a:ea typeface="ＭＳ ゴシック" panose="020B0609070205080204" pitchFamily="49" charset="-128"/>
              <a:cs typeface="Leelawadee UI Semilight" panose="020B0402040204020203" pitchFamily="34" charset="-34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E8E76C-3B6B-4BAB-B0D3-BD901DFC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3</a:t>
            </a:fld>
            <a:endParaRPr kumimoji="1" lang="ja-JP" altLang="en-US"/>
          </a:p>
        </p:txBody>
      </p:sp>
      <p:graphicFrame>
        <p:nvGraphicFramePr>
          <p:cNvPr id="6" name="表 7">
            <a:extLst>
              <a:ext uri="{FF2B5EF4-FFF2-40B4-BE49-F238E27FC236}">
                <a16:creationId xmlns:a16="http://schemas.microsoft.com/office/drawing/2014/main" id="{A4D32BBD-7408-4B54-93B2-0F1A2E50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029577"/>
              </p:ext>
            </p:extLst>
          </p:nvPr>
        </p:nvGraphicFramePr>
        <p:xfrm>
          <a:off x="693490" y="1519171"/>
          <a:ext cx="7821860" cy="312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2. N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/>
                        <a:t>マシニングセンタの機内測定用の無線式ボアゲージシステム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無線式刃先制御システム</a:t>
                      </a:r>
                      <a:endParaRPr kumimoji="1" lang="en-US" altLang="ja-JP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刃先エア制御装置</a:t>
                      </a:r>
                    </a:p>
                    <a:p>
                      <a:r>
                        <a:rPr lang="en-US" altLang="ja-JP" sz="1350"/>
                        <a:t>IoT</a:t>
                      </a:r>
                      <a:r>
                        <a:rPr lang="ja-JP" altLang="en-US" sz="1350"/>
                        <a:t>向け刃先欠損や消耗予兆検出の為の加速度センサーを使ったエッジデバイス</a:t>
                      </a:r>
                      <a:endParaRPr lang="en-US" altLang="ja-JP" sz="1350"/>
                    </a:p>
                    <a:p>
                      <a:r>
                        <a:rPr lang="en-US" altLang="ja-JP" sz="1350"/>
                        <a:t>50W</a:t>
                      </a:r>
                      <a:r>
                        <a:rPr lang="ja-JP" altLang="en-US" sz="1350"/>
                        <a:t>ワイヤレス電力伝送装置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組み込みソフト開発、アプリソフト開発、基板設計。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開発部、製造部のマネージメント。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Bluetooth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を使った無線式加工径計測装置を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年掛けて製品化。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(NXP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35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atmel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マイコン、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VB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C#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1" lang="en-US" altLang="ja-JP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加速度センサーによる加工状況分析装置を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MATLAB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を使って開発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1" lang="en-US" altLang="ja-JP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Bluetooth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制御＆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WPT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充電方式の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サーボ刃先制御装置、ワイヤレス電力電送装置（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WPT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）の開発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E9DED66D-0026-4A6A-A622-5630B0DF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111" y="4930582"/>
            <a:ext cx="1504950" cy="84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300FE22-99E7-4885-99A7-230DFEE62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805" y="4775007"/>
            <a:ext cx="1073601" cy="115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稲妻 8">
            <a:extLst>
              <a:ext uri="{FF2B5EF4-FFF2-40B4-BE49-F238E27FC236}">
                <a16:creationId xmlns:a16="http://schemas.microsoft.com/office/drawing/2014/main" id="{98B508D4-4C56-4705-AEE3-C8435A076EE9}"/>
              </a:ext>
            </a:extLst>
          </p:cNvPr>
          <p:cNvSpPr/>
          <p:nvPr/>
        </p:nvSpPr>
        <p:spPr>
          <a:xfrm>
            <a:off x="2509344" y="5252238"/>
            <a:ext cx="520700" cy="173182"/>
          </a:xfrm>
          <a:prstGeom prst="lightningBol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593FEDF-6594-4FEA-80AE-7B491D584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017" y="5067107"/>
            <a:ext cx="1104900" cy="5715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A7AA593-5EFE-4063-9582-EB03754E8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547" y="5040894"/>
            <a:ext cx="8477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BB5FB26-1011-497F-AEAE-0964D7C13871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51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0592F-392A-4B27-8974-52CBD9DF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/>
              <a:t>１．業務経歴③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FF56F6-3283-4DEE-B262-1451790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70DF574E-8B8A-4677-9F21-5CA4057D2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74591"/>
              </p:ext>
            </p:extLst>
          </p:nvPr>
        </p:nvGraphicFramePr>
        <p:xfrm>
          <a:off x="628650" y="1416566"/>
          <a:ext cx="782186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3. M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/>
                        <a:t>新ヘッド搭載のプリンタ新機種開発。</a:t>
                      </a:r>
                      <a:endParaRPr lang="en-US" altLang="ja-JP" sz="135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/>
                        <a:t>重量巻取り装置開発。</a:t>
                      </a:r>
                      <a:endParaRPr lang="en-US" altLang="ja-JP" sz="135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/>
                        <a:t>新</a:t>
                      </a:r>
                      <a:r>
                        <a:rPr lang="en-US" altLang="ja-JP" sz="1350"/>
                        <a:t>CPU</a:t>
                      </a:r>
                      <a:r>
                        <a:rPr lang="ja-JP" altLang="en-US" sz="1350"/>
                        <a:t>を搭載した次世代プラットフォーム開発。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新機種用ハード設計開発。新ヘッド基板開発。新</a:t>
                      </a:r>
                      <a:r>
                        <a:rPr kumimoji="1" lang="en-US" altLang="ja-JP"/>
                        <a:t>CPU</a:t>
                      </a:r>
                      <a:r>
                        <a:rPr kumimoji="1" lang="ja-JP" altLang="en-US"/>
                        <a:t>や</a:t>
                      </a:r>
                      <a:r>
                        <a:rPr kumimoji="1" lang="en-US" altLang="ja-JP"/>
                        <a:t>ARM</a:t>
                      </a:r>
                      <a:r>
                        <a:rPr kumimoji="1" lang="ja-JP" altLang="en-US"/>
                        <a:t>内蔵</a:t>
                      </a:r>
                      <a:r>
                        <a:rPr kumimoji="1" lang="en-US" altLang="ja-JP"/>
                        <a:t>FPGA</a:t>
                      </a:r>
                      <a:r>
                        <a:rPr kumimoji="1" lang="ja-JP" altLang="en-US"/>
                        <a:t>検討。</a:t>
                      </a:r>
                      <a:r>
                        <a:rPr kumimoji="1" lang="en-US" altLang="ja-JP"/>
                        <a:t>VHDL</a:t>
                      </a:r>
                      <a:r>
                        <a:rPr kumimoji="1" lang="ja-JP" altLang="en-US"/>
                        <a:t>設計のアルテラ信号処理エンジン検証。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基板設計サポート（</a:t>
                      </a:r>
                      <a:r>
                        <a:rPr kumimoji="1" lang="en-US" altLang="ja-JP"/>
                        <a:t>OrCAD</a:t>
                      </a:r>
                      <a:r>
                        <a:rPr kumimoji="1" lang="ja-JP" altLang="en-US"/>
                        <a:t>）。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アルテラ</a:t>
                      </a:r>
                      <a:r>
                        <a:rPr kumimoji="1" lang="en-US" altLang="ja-JP"/>
                        <a:t>Cyclone10</a:t>
                      </a:r>
                      <a:r>
                        <a:rPr kumimoji="1" lang="ja-JP" altLang="en-US"/>
                        <a:t>への新エンジン設計サポート。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err="1"/>
                        <a:t>modelsim</a:t>
                      </a:r>
                      <a:r>
                        <a:rPr kumimoji="1" lang="ja-JP" altLang="en-US"/>
                        <a:t>、</a:t>
                      </a:r>
                      <a:r>
                        <a:rPr kumimoji="1" lang="en-US" altLang="ja-JP" err="1"/>
                        <a:t>quartus</a:t>
                      </a:r>
                      <a:r>
                        <a:rPr kumimoji="1" lang="en-US" altLang="ja-JP"/>
                        <a:t> prime</a:t>
                      </a:r>
                      <a:r>
                        <a:rPr kumimoji="1" lang="ja-JP" altLang="en-US"/>
                        <a:t>を使った環境で開発。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rgbClr val="FF0000"/>
                          </a:solidFill>
                        </a:rPr>
                        <a:t>外注した新エンジンの致命的な問題点を解消して、生産に寄与</a:t>
                      </a:r>
                      <a:r>
                        <a:rPr kumimoji="1" lang="ja-JP" altLang="en-US"/>
                        <a:t>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低コストな新ヘッドの回路を</a:t>
                      </a:r>
                      <a:r>
                        <a:rPr kumimoji="1" lang="en-US" altLang="ja-JP"/>
                        <a:t>fix</a:t>
                      </a:r>
                      <a:r>
                        <a:rPr kumimoji="1" lang="ja-JP" altLang="en-US"/>
                        <a:t>するための検討検証の実施と生産寄与。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rgbClr val="FF0000"/>
                          </a:solidFill>
                        </a:rPr>
                        <a:t>新ヘッドのクロストーク対策の検討実施</a:t>
                      </a:r>
                      <a:r>
                        <a:rPr kumimoji="1" lang="ja-JP" altLang="en-US"/>
                        <a:t>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現行の重量巻取りの問題点を</a:t>
                      </a:r>
                      <a:r>
                        <a:rPr kumimoji="1" lang="en-US" altLang="ja-JP"/>
                        <a:t>FPGA</a:t>
                      </a:r>
                      <a:r>
                        <a:rPr kumimoji="1" lang="ja-JP" altLang="en-US"/>
                        <a:t>で解消して、生産に寄与。</a:t>
                      </a:r>
                      <a:endParaRPr kumimoji="1" lang="en-US" alt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1EB613CF-0A94-4B8E-B138-ADD793E9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43" y="4556065"/>
            <a:ext cx="2649348" cy="177073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D2A2E38-2556-4B04-B14B-0D59357D3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240" y="4560124"/>
            <a:ext cx="2864053" cy="1495204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5041BAF-FFA4-4100-A501-D8B863640663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8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CCF25-56D3-456A-8663-34DC3E3C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/>
              <a:t>１．業務経歴④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7F7AE3-54A6-4BBD-8B79-5755A393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5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7B7A351D-4C76-4736-83C1-904F2410B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373271"/>
              </p:ext>
            </p:extLst>
          </p:nvPr>
        </p:nvGraphicFramePr>
        <p:xfrm>
          <a:off x="661070" y="1475289"/>
          <a:ext cx="7821860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（株）アウトソーシングテクノロジー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/>
                        <a:t>A</a:t>
                      </a:r>
                      <a:r>
                        <a:rPr lang="ja-JP" altLang="en-US" sz="1350"/>
                        <a:t>社向け荷重試験機開発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AC</a:t>
                      </a:r>
                      <a:r>
                        <a:rPr kumimoji="1" lang="ja-JP" altLang="en-US"/>
                        <a:t>サーボモータを制御するマイコンハード製作し、</a:t>
                      </a:r>
                      <a:r>
                        <a:rPr kumimoji="1" lang="en-US" altLang="ja-JP"/>
                        <a:t>PC</a:t>
                      </a:r>
                      <a:r>
                        <a:rPr kumimoji="1" lang="ja-JP" altLang="en-US"/>
                        <a:t>制御システムを製品納入。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サーボモータを制御する為の</a:t>
                      </a:r>
                      <a:r>
                        <a:rPr kumimoji="1" lang="ja-JP" altLang="en-US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モーションコントローラ、</a:t>
                      </a:r>
                      <a:r>
                        <a:rPr kumimoji="1" lang="ja-JP" altLang="ja-JP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サーボコントローラ</a:t>
                      </a:r>
                      <a:r>
                        <a:rPr kumimoji="1" lang="ja-JP" altLang="en-US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</a:t>
                      </a:r>
                      <a:r>
                        <a:rPr kumimoji="1" lang="en-US" altLang="ja-JP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PLC</a:t>
                      </a:r>
                      <a:r>
                        <a:rPr kumimoji="1" lang="ja-JP" altLang="ja-JP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相当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のハードウエアを、マイコン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(pic32mm0256gpm64)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と周辺部品を使って実現し、大幅な設備の低コスト化を実現。</a:t>
                      </a:r>
                      <a:endParaRPr kumimoji="1" lang="en-US" altLang="ja-JP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制御盤対応とシステムの検証を実施。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プロトタイプは、半田付けで装置を作成し、メンテナンス用に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基板のレイアウトを実施。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ソフト担当へ引き渡す為、ハード検証の為のソフトを作成して動作検証し、仕事の流れを止めることなく、全体のシステム構築時間を短縮。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11" name="図 10">
            <a:extLst>
              <a:ext uri="{FF2B5EF4-FFF2-40B4-BE49-F238E27FC236}">
                <a16:creationId xmlns:a16="http://schemas.microsoft.com/office/drawing/2014/main" id="{114BCCC8-0CDD-48D7-94AE-B098F1FCA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858" y="4620472"/>
            <a:ext cx="1541425" cy="1402823"/>
          </a:xfrm>
          <a:prstGeom prst="rect">
            <a:avLst/>
          </a:prstGeom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D84C89A-D58A-414D-B493-32088BCA41C8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54CF69B-2D5C-4110-AF3F-F2A177039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91" y="4620472"/>
            <a:ext cx="1502270" cy="140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8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98D3-E8D3-4791-911C-4570EB0E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B8159-0332-2090-0D9C-A7FEAA00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>
                <a:ea typeface="游ゴシック Light"/>
              </a:rPr>
              <a:t>１．業務経歴⑤</a:t>
            </a:r>
            <a:endParaRPr kumimoji="1" lang="ja-JP" altLang="en-US">
              <a:ea typeface="游ゴシック Light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519470-CC75-8B92-9CF7-87C765A7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6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49E6517E-EEA4-4E88-F8F4-7E87FE630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954852"/>
              </p:ext>
            </p:extLst>
          </p:nvPr>
        </p:nvGraphicFramePr>
        <p:xfrm>
          <a:off x="628650" y="1341609"/>
          <a:ext cx="7821860" cy="480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（株）アウトソーシングテクノロジー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err="1"/>
                        <a:t>W社派遣先において、ロボット搭載FPGA開発、エンコーダ、センサー開発、プラットフォーム検討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①ロボットに搭載する</a:t>
                      </a:r>
                      <a:r>
                        <a:rPr lang="en-US" altLang="ja-JP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FPGA</a:t>
                      </a: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開発、</a:t>
                      </a:r>
                      <a:r>
                        <a:rPr lang="en-US" altLang="ja-JP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</a:t>
                      </a: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新エンコーダモジュールの制御用FPGAとモジュールのノイズ対策、③新電流センサーの制御用FPGA開発、④NewTypeエンコーダの評価アプリとマイコン制御ソフトとFPGA開発。⑤新プラットフォーム検討業務として、FPGAからルネサスマイコン構成の検討、⑥新プラットフォームとして、Zynqチップによるプラットフォームのハードソフト検討。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新エンコーダモジュール評価用に、FPGA修正開発と評価、及び、ノイズ評価と対策。</a:t>
                      </a:r>
                      <a:r>
                        <a:rPr lang="ja-JP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特許2件、出願申請。EMC対策完。</a:t>
                      </a:r>
                      <a:endParaRPr 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新電流センサ評価用に、ロボットシステムのFPGAへ回路組み込み作業と、評価。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1bitDACをFPGAにロジックを取り込み、コストダウン寄与。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NewTypeエンコーダ評価のため、アプリソフトをVBで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開発し、Zynqマイコンでエンコーダの制御を実装。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FPGAソリューションからマイコンソリューションの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フィージビリティ検討を行い、処理時間内に実現可能か、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ソフトの移植作業を実施。処理能力を満たし、コスト削減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が可能な事を確認。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新プラットフォームとしてZynqソリューションの検討。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VIVADO、vitisで移植の実現性を検討。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00E7196-B21A-3F82-46E6-1BF0954D0F2F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11CA59A-08F5-AA88-0B81-F49D47EB0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53" y="4656040"/>
            <a:ext cx="1314633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04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9615-B519-D1F0-8A6E-AAC218D62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4FFA4-E9A7-D3CD-FB3D-BA240BDB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>
                <a:ea typeface="游ゴシック Light"/>
              </a:rPr>
              <a:t>１．業務経歴⑥</a:t>
            </a:r>
            <a:endParaRPr kumimoji="1" lang="ja-JP" altLang="en-US">
              <a:ea typeface="游ゴシック Light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AECF55-F44C-0BC9-34D2-887909AD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7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FF7F26C2-AA43-4F5E-63A0-6E7720A96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527219"/>
              </p:ext>
            </p:extLst>
          </p:nvPr>
        </p:nvGraphicFramePr>
        <p:xfrm>
          <a:off x="661070" y="1516110"/>
          <a:ext cx="7821860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（株）</a:t>
                      </a:r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BREXA Technology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err="1"/>
                        <a:t>D社派遣先において</a:t>
                      </a:r>
                      <a:r>
                        <a:rPr lang="en-US" altLang="ja-JP" sz="1350"/>
                        <a:t>、</a:t>
                      </a:r>
                      <a:r>
                        <a:rPr lang="ja-JP" altLang="en-US" sz="1350"/>
                        <a:t>次機</a:t>
                      </a:r>
                      <a:r>
                        <a:rPr lang="en-US" altLang="ja-JP" sz="1350"/>
                        <a:t>ECU-SOC</a:t>
                      </a:r>
                      <a:r>
                        <a:rPr lang="ja-JP" altLang="en-US" sz="1350"/>
                        <a:t>向けリファレンスボード検討。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</a:t>
                      </a:r>
                      <a:r>
                        <a:rPr lang="ja-JP" altLang="en-US" sz="1400" dirty="0"/>
                        <a:t>次期</a:t>
                      </a:r>
                      <a:r>
                        <a:rPr lang="en-US" altLang="ja-JP" sz="1400" dirty="0"/>
                        <a:t>PMIC</a:t>
                      </a:r>
                      <a:r>
                        <a:rPr lang="ja-JP" altLang="en-US" sz="1400" dirty="0"/>
                        <a:t>開発検討と評価ボード立ち上げ。</a:t>
                      </a:r>
                      <a:endParaRPr lang="en-US" altLang="ja-JP" sz="14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dirty="0"/>
                        <a:t>②</a:t>
                      </a:r>
                      <a:r>
                        <a:rPr lang="en-US" altLang="ja-JP" sz="1400" dirty="0"/>
                        <a:t>UFS Ver3.1, Ver4.1 </a:t>
                      </a:r>
                      <a:r>
                        <a:rPr lang="ja-JP" altLang="en-US" sz="1400" dirty="0"/>
                        <a:t>メモリ使用マニュアル作成。</a:t>
                      </a:r>
                      <a:endParaRPr lang="en-US" altLang="ja-JP" sz="14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dirty="0"/>
                        <a:t>③半導体デバイス</a:t>
                      </a:r>
                      <a:r>
                        <a:rPr lang="en-US" altLang="ja-JP" sz="1400" dirty="0"/>
                        <a:t>(MOS, Bipolar</a:t>
                      </a:r>
                      <a:r>
                        <a:rPr lang="ja-JP" altLang="en-US" sz="1400" dirty="0"/>
                        <a:t>）のデバイス構造と動作メカニズム、アナログ回路の勉強会レクチャ講師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評価用として、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Xilinx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エバボードに</a:t>
                      </a:r>
                      <a:r>
                        <a:rPr lang="en-US" altLang="ja-JP" sz="13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MicroBlaze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を搭載して制御し、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上からアプリソフトから、ターゲット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を制御するシステムを作成。</a:t>
                      </a:r>
                      <a:endParaRPr lang="ja-JP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既存の市販品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PMIC,DCDC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を組み合わせた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電源システムソリューション検討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UFS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メモリを使ったシステムを立ち上げる開発部署に向けた、使用マニュアル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注意点資料作成。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半導体デバイス全般の標準化推進部門に対し、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デバイス構造・各種部品の動作原理・アナログ回路に関する講師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を務め、組織全体の技術レベル向上に貢献。</a:t>
                      </a:r>
                      <a:endParaRPr lang="en-US" altLang="ja-JP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DC14AE3-6ED4-1AB2-5BB5-78636F1977F7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81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76E1B2-BFCE-44BE-A886-B062ED44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２．</a:t>
            </a:r>
            <a:r>
              <a:rPr lang="en-US" altLang="ja-JP" sz="3200"/>
              <a:t>S</a:t>
            </a:r>
            <a:r>
              <a:rPr lang="ja-JP" altLang="en-US" sz="3200"/>
              <a:t>社での知識とスキル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FE3A97-FFF8-46A5-A18C-384E55E4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A68C10-4D79-4CE6-B326-85B1D3D4C175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7238F039-1DEA-44A7-8205-F0AC0E6F0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74603"/>
              </p:ext>
            </p:extLst>
          </p:nvPr>
        </p:nvGraphicFramePr>
        <p:xfrm>
          <a:off x="950258" y="1482875"/>
          <a:ext cx="7642371" cy="44313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2034795375"/>
                    </a:ext>
                  </a:extLst>
                </a:gridCol>
                <a:gridCol w="1946246">
                  <a:extLst>
                    <a:ext uri="{9D8B030D-6E8A-4147-A177-3AD203B41FA5}">
                      <a16:colId xmlns:a16="http://schemas.microsoft.com/office/drawing/2014/main" val="4087506110"/>
                    </a:ext>
                  </a:extLst>
                </a:gridCol>
                <a:gridCol w="4681058">
                  <a:extLst>
                    <a:ext uri="{9D8B030D-6E8A-4147-A177-3AD203B41FA5}">
                      <a16:colId xmlns:a16="http://schemas.microsoft.com/office/drawing/2014/main" val="495112640"/>
                    </a:ext>
                  </a:extLst>
                </a:gridCol>
              </a:tblGrid>
              <a:tr h="1190889">
                <a:tc row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設計技術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デジタル回路＆基板技術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LSI</a:t>
                      </a:r>
                      <a:r>
                        <a:rPr lang="ja-JP" sz="1350" kern="100">
                          <a:effectLst/>
                        </a:rPr>
                        <a:t>設計：</a:t>
                      </a:r>
                      <a:r>
                        <a:rPr lang="en-US" sz="1350" kern="100">
                          <a:effectLst/>
                        </a:rPr>
                        <a:t>Verilog-HDL, VCS, Spice</a:t>
                      </a:r>
                      <a:r>
                        <a:rPr lang="ja-JP" sz="1350" kern="100">
                          <a:effectLst/>
                        </a:rPr>
                        <a:t>。</a:t>
                      </a:r>
                    </a:p>
                    <a:p>
                      <a:pPr algn="just"/>
                      <a:r>
                        <a:rPr lang="ja-JP" sz="1350" kern="100">
                          <a:effectLst/>
                        </a:rPr>
                        <a:t>基板設計：回路図エントリ（</a:t>
                      </a:r>
                      <a:r>
                        <a:rPr lang="en-US" sz="1350" kern="100" err="1">
                          <a:effectLst/>
                        </a:rPr>
                        <a:t>Orcad</a:t>
                      </a:r>
                      <a:r>
                        <a:rPr lang="en-US" sz="1350" kern="100">
                          <a:effectLst/>
                        </a:rPr>
                        <a:t>, Protel</a:t>
                      </a:r>
                      <a:r>
                        <a:rPr lang="ja-JP" sz="1350" kern="100">
                          <a:effectLst/>
                        </a:rPr>
                        <a:t>）。フロアプラン＆チェック</a:t>
                      </a:r>
                    </a:p>
                    <a:p>
                      <a:pPr algn="just"/>
                      <a:r>
                        <a:rPr lang="ja-JP" sz="1350" kern="100">
                          <a:effectLst/>
                        </a:rPr>
                        <a:t>試作検証：</a:t>
                      </a:r>
                      <a:r>
                        <a:rPr lang="en-US" sz="1350" kern="100">
                          <a:effectLst/>
                        </a:rPr>
                        <a:t>FPGA(Xilinx, Altera )</a:t>
                      </a:r>
                      <a:r>
                        <a:rPr lang="ja-JP" sz="1350" kern="100">
                          <a:effectLst/>
                        </a:rPr>
                        <a:t>の実装</a:t>
                      </a:r>
                      <a:r>
                        <a:rPr lang="en-US" sz="1350" kern="100">
                          <a:effectLst/>
                        </a:rPr>
                        <a:t>(</a:t>
                      </a:r>
                      <a:r>
                        <a:rPr lang="ja-JP" sz="1350" kern="100">
                          <a:effectLst/>
                        </a:rPr>
                        <a:t>コンパイル＆</a:t>
                      </a:r>
                      <a:r>
                        <a:rPr lang="en-US" sz="1350" kern="100">
                          <a:effectLst/>
                        </a:rPr>
                        <a:t>STA)</a:t>
                      </a:r>
                      <a:r>
                        <a:rPr lang="ja-JP" sz="1350" kern="100">
                          <a:effectLst/>
                        </a:rPr>
                        <a:t>と動作検証。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2083653"/>
                  </a:ext>
                </a:extLst>
              </a:tr>
              <a:tr h="7866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アナログ回路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アナログ</a:t>
                      </a:r>
                      <a:r>
                        <a:rPr lang="en-US" sz="1350" kern="100">
                          <a:effectLst/>
                        </a:rPr>
                        <a:t>IC</a:t>
                      </a:r>
                      <a:r>
                        <a:rPr lang="ja-JP" sz="1350" kern="100">
                          <a:effectLst/>
                        </a:rPr>
                        <a:t>、ビデオアンプ、</a:t>
                      </a:r>
                      <a:r>
                        <a:rPr lang="en-US" sz="1350" kern="100">
                          <a:effectLst/>
                        </a:rPr>
                        <a:t>AGC</a:t>
                      </a:r>
                      <a:r>
                        <a:rPr lang="ja-JP" sz="1350" kern="100">
                          <a:effectLst/>
                        </a:rPr>
                        <a:t>アンプの回路設計とアートワーク。ドライバ、オペアンプ</a:t>
                      </a:r>
                      <a:r>
                        <a:rPr lang="en-US" sz="1350" kern="100">
                          <a:effectLst/>
                        </a:rPr>
                        <a:t>,</a:t>
                      </a:r>
                      <a:r>
                        <a:rPr lang="ja-JP" sz="1350" kern="100">
                          <a:effectLst/>
                        </a:rPr>
                        <a:t>レギュレータ、</a:t>
                      </a:r>
                      <a:r>
                        <a:rPr lang="en-US" sz="1350" kern="100">
                          <a:effectLst/>
                        </a:rPr>
                        <a:t>ADC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DAC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PLL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OSC</a:t>
                      </a:r>
                      <a:r>
                        <a:rPr lang="ja-JP" sz="1350" kern="100">
                          <a:effectLst/>
                        </a:rPr>
                        <a:t>の技術的知見とノウハウ。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9308684"/>
                  </a:ext>
                </a:extLst>
              </a:tr>
              <a:tr h="786615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評価＆ユーザ支援技術＆知見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オシロ、スペアナ、評価基板作成、</a:t>
                      </a:r>
                      <a:r>
                        <a:rPr lang="en-US" sz="1350" kern="100">
                          <a:effectLst/>
                        </a:rPr>
                        <a:t>PIC</a:t>
                      </a:r>
                      <a:r>
                        <a:rPr lang="ja-JP" sz="1350" kern="100">
                          <a:effectLst/>
                        </a:rPr>
                        <a:t>マイコンや汎用マイコンによる拡販＆評価基板作成。デモソフト作成（</a:t>
                      </a:r>
                      <a:r>
                        <a:rPr lang="en-US" sz="1350" kern="100">
                          <a:effectLst/>
                        </a:rPr>
                        <a:t>C,VC++</a:t>
                      </a:r>
                      <a:r>
                        <a:rPr lang="ja-JP" sz="1350" kern="100">
                          <a:effectLst/>
                        </a:rPr>
                        <a:t>）。カメラ＆画像信号処理。フィルタ理論。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81119077"/>
                  </a:ext>
                </a:extLst>
              </a:tr>
              <a:tr h="1190889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企画＆ユーザ対応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LSI</a:t>
                      </a:r>
                      <a:r>
                        <a:rPr lang="ja-JP" sz="1350" kern="100">
                          <a:effectLst/>
                        </a:rPr>
                        <a:t>製品開発：マーケット分析、開発企画書作成。</a:t>
                      </a:r>
                    </a:p>
                    <a:p>
                      <a:pPr algn="just"/>
                      <a:r>
                        <a:rPr lang="ja-JP" sz="1350" kern="100">
                          <a:effectLst/>
                        </a:rPr>
                        <a:t>拡販：プレゼンテーション資料作成、展示会対応、プレス向け資料、</a:t>
                      </a:r>
                      <a:r>
                        <a:rPr lang="en-US" sz="1350" kern="100">
                          <a:effectLst/>
                        </a:rPr>
                        <a:t>FAE</a:t>
                      </a:r>
                      <a:r>
                        <a:rPr lang="ja-JP" sz="1350" kern="100">
                          <a:effectLst/>
                        </a:rPr>
                        <a:t>業務。</a:t>
                      </a:r>
                    </a:p>
                    <a:p>
                      <a:pPr algn="just"/>
                      <a:r>
                        <a:rPr lang="en-US" sz="1350" kern="100">
                          <a:effectLst/>
                        </a:rPr>
                        <a:t>Project Manager</a:t>
                      </a:r>
                      <a:r>
                        <a:rPr lang="ja-JP" sz="1350" kern="100">
                          <a:effectLst/>
                        </a:rPr>
                        <a:t>：</a:t>
                      </a:r>
                      <a:r>
                        <a:rPr lang="en-US" sz="1350" kern="100">
                          <a:effectLst/>
                        </a:rPr>
                        <a:t>LSI</a:t>
                      </a:r>
                      <a:r>
                        <a:rPr lang="ja-JP" sz="1350" kern="100">
                          <a:effectLst/>
                        </a:rPr>
                        <a:t>開発の</a:t>
                      </a:r>
                      <a:r>
                        <a:rPr lang="en-US" sz="1350" kern="100">
                          <a:effectLst/>
                        </a:rPr>
                        <a:t>Project Manager,</a:t>
                      </a:r>
                      <a:r>
                        <a:rPr lang="ja-JP" sz="1350" kern="100">
                          <a:effectLst/>
                        </a:rPr>
                        <a:t>ユーザ対応</a:t>
                      </a:r>
                      <a:r>
                        <a:rPr lang="en-US" sz="1350" kern="100">
                          <a:effectLst/>
                        </a:rPr>
                        <a:t>&amp;</a:t>
                      </a:r>
                      <a:r>
                        <a:rPr lang="ja-JP" sz="1350" kern="100">
                          <a:effectLst/>
                        </a:rPr>
                        <a:t>技術支援。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2738535"/>
                  </a:ext>
                </a:extLst>
              </a:tr>
              <a:tr h="476355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プロジェクトマネージャーとして、部下</a:t>
                      </a:r>
                      <a:r>
                        <a:rPr lang="en-US" sz="1350" kern="100">
                          <a:effectLst/>
                        </a:rPr>
                        <a:t>3-5</a:t>
                      </a:r>
                      <a:r>
                        <a:rPr lang="ja-JP" sz="1350" kern="100">
                          <a:effectLst/>
                        </a:rPr>
                        <a:t>名をマネージメント。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2797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960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820329-6FCE-4F64-9EE1-D008F40E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601056"/>
            <a:ext cx="7886700" cy="1325563"/>
          </a:xfrm>
        </p:spPr>
        <p:txBody>
          <a:bodyPr>
            <a:normAutofit/>
          </a:bodyPr>
          <a:lstStyle/>
          <a:p>
            <a:r>
              <a:rPr lang="ja-JP" altLang="en-US" sz="3200"/>
              <a:t>３．</a:t>
            </a:r>
            <a:r>
              <a:rPr lang="en-US" altLang="ja-JP" sz="3200"/>
              <a:t>N</a:t>
            </a:r>
            <a:r>
              <a:rPr lang="ja-JP" altLang="en-US" sz="3200"/>
              <a:t>社での知識とスキル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7CC788-3FA3-4922-854C-484F90C4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3329D3A-382A-4AB6-A434-9BF931251214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1386AF4B-CC40-4CCD-BA02-2BCFAC837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65323"/>
              </p:ext>
            </p:extLst>
          </p:nvPr>
        </p:nvGraphicFramePr>
        <p:xfrm>
          <a:off x="1432242" y="1966879"/>
          <a:ext cx="6279515" cy="2496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225">
                  <a:extLst>
                    <a:ext uri="{9D8B030D-6E8A-4147-A177-3AD203B41FA5}">
                      <a16:colId xmlns:a16="http://schemas.microsoft.com/office/drawing/2014/main" val="3354916753"/>
                    </a:ext>
                  </a:extLst>
                </a:gridCol>
                <a:gridCol w="4860290">
                  <a:extLst>
                    <a:ext uri="{9D8B030D-6E8A-4147-A177-3AD203B41FA5}">
                      <a16:colId xmlns:a16="http://schemas.microsoft.com/office/drawing/2014/main" val="1916261289"/>
                    </a:ext>
                  </a:extLst>
                </a:gridCol>
              </a:tblGrid>
              <a:tr h="82492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Bluetooth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ZigBee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WPT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FFT</a:t>
                      </a:r>
                      <a:r>
                        <a:rPr lang="ja-JP" sz="1350" kern="100">
                          <a:effectLst/>
                        </a:rPr>
                        <a:t>、電磁界シミュレータ、</a:t>
                      </a:r>
                      <a:r>
                        <a:rPr lang="en-US" sz="1350" kern="100">
                          <a:effectLst/>
                        </a:rPr>
                        <a:t>DC</a:t>
                      </a:r>
                      <a:r>
                        <a:rPr lang="ja-JP" sz="1350" kern="100">
                          <a:effectLst/>
                        </a:rPr>
                        <a:t>サーボ、回路</a:t>
                      </a:r>
                      <a:r>
                        <a:rPr lang="en-US" sz="1350" kern="100">
                          <a:effectLst/>
                        </a:rPr>
                        <a:t>Simulator</a:t>
                      </a:r>
                      <a:r>
                        <a:rPr lang="ja-JP" altLang="en-US" sz="1350" kern="100">
                          <a:effectLst/>
                        </a:rPr>
                        <a:t>（</a:t>
                      </a:r>
                      <a:r>
                        <a:rPr lang="en-US" altLang="ja-JP" sz="1350" kern="100">
                          <a:effectLst/>
                        </a:rPr>
                        <a:t>LT-spice</a:t>
                      </a:r>
                      <a:r>
                        <a:rPr lang="ja-JP" altLang="en-US" sz="1350" kern="100">
                          <a:effectLst/>
                        </a:rPr>
                        <a:t>、</a:t>
                      </a:r>
                      <a:r>
                        <a:rPr lang="en-US" altLang="ja-JP" sz="1350" kern="100">
                          <a:effectLst/>
                        </a:rPr>
                        <a:t>TINA</a:t>
                      </a:r>
                      <a:r>
                        <a:rPr lang="ja-JP" altLang="en-US" sz="1350" kern="100">
                          <a:effectLst/>
                        </a:rPr>
                        <a:t>）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560790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評価基板作成、</a:t>
                      </a:r>
                      <a:r>
                        <a:rPr lang="en-US" altLang="ja-JP" sz="1350" kern="100">
                          <a:effectLst/>
                        </a:rPr>
                        <a:t>PIC</a:t>
                      </a:r>
                      <a:r>
                        <a:rPr lang="ja-JP" altLang="en-US" sz="1350" kern="100">
                          <a:effectLst/>
                        </a:rPr>
                        <a:t>、</a:t>
                      </a:r>
                      <a:r>
                        <a:rPr lang="en-US" altLang="ja-JP" sz="1350" kern="100">
                          <a:effectLst/>
                        </a:rPr>
                        <a:t>NXP</a:t>
                      </a:r>
                      <a:r>
                        <a:rPr lang="ja-JP" altLang="en-US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Atmel</a:t>
                      </a:r>
                      <a:r>
                        <a:rPr lang="ja-JP" sz="1350" kern="100">
                          <a:effectLst/>
                        </a:rPr>
                        <a:t>マイコン</a:t>
                      </a:r>
                      <a:r>
                        <a:rPr lang="en-US" sz="1350" kern="100">
                          <a:effectLst/>
                        </a:rPr>
                        <a:t>&amp;VB</a:t>
                      </a:r>
                      <a:r>
                        <a:rPr lang="ja-JP" sz="1350" kern="100">
                          <a:effectLst/>
                        </a:rPr>
                        <a:t>によるアプリソフト、</a:t>
                      </a:r>
                      <a:r>
                        <a:rPr lang="en-US" sz="1350" kern="100">
                          <a:effectLst/>
                        </a:rPr>
                        <a:t>MATLAB</a:t>
                      </a:r>
                      <a:r>
                        <a:rPr lang="ja-JP" sz="1350" kern="100">
                          <a:effectLst/>
                        </a:rPr>
                        <a:t>互換ソフト。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8973971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Project Manager</a:t>
                      </a:r>
                      <a:r>
                        <a:rPr lang="ja-JP" sz="1350" kern="100">
                          <a:effectLst/>
                        </a:rPr>
                        <a:t>：製品開発の</a:t>
                      </a:r>
                      <a:r>
                        <a:rPr lang="en-US" sz="1350" kern="100">
                          <a:effectLst/>
                        </a:rPr>
                        <a:t>Project Manager,</a:t>
                      </a:r>
                      <a:r>
                        <a:rPr lang="ja-JP" sz="1350" kern="100">
                          <a:effectLst/>
                        </a:rPr>
                        <a:t>ユーザ対応</a:t>
                      </a:r>
                      <a:r>
                        <a:rPr lang="en-US" sz="1350" kern="100">
                          <a:effectLst/>
                        </a:rPr>
                        <a:t>&amp;</a:t>
                      </a:r>
                      <a:r>
                        <a:rPr lang="ja-JP" sz="1350" kern="100">
                          <a:effectLst/>
                        </a:rPr>
                        <a:t>技術支援。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4510059"/>
                  </a:ext>
                </a:extLst>
              </a:tr>
              <a:tr h="558137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</a:rPr>
                        <a:t>プレイングマネージャ</a:t>
                      </a:r>
                      <a:r>
                        <a:rPr lang="ja-JP" sz="1350" kern="100">
                          <a:effectLst/>
                        </a:rPr>
                        <a:t>として、製造、開発の部下７名をマネージメント。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962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296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E4EE-8902-478D-8ACE-C16C838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４．</a:t>
            </a:r>
            <a:r>
              <a:rPr lang="en-US" altLang="ja-JP" sz="3200"/>
              <a:t>M</a:t>
            </a:r>
            <a:r>
              <a:rPr lang="ja-JP" altLang="en-US" sz="3200"/>
              <a:t>社での知識とスキル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4ACC5-E478-48E5-92D9-268222BB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577C90-1FA2-4B7D-9864-C5140832BF80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ABCCC533-29D1-47C1-9456-7F86F9E5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027010"/>
              </p:ext>
            </p:extLst>
          </p:nvPr>
        </p:nvGraphicFramePr>
        <p:xfrm>
          <a:off x="1299414" y="1834274"/>
          <a:ext cx="6569459" cy="27209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4755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084704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679334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プリンタシステムの動作習得、</a:t>
                      </a:r>
                      <a:r>
                        <a:rPr lang="en-US" sz="1350" kern="100">
                          <a:effectLst/>
                        </a:rPr>
                        <a:t>VHDL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Zynq</a:t>
                      </a:r>
                      <a:r>
                        <a:rPr lang="ja-JP" sz="1350" kern="100">
                          <a:effectLst/>
                        </a:rPr>
                        <a:t>等の最新</a:t>
                      </a:r>
                      <a:r>
                        <a:rPr lang="en-US" sz="1350" kern="100">
                          <a:effectLst/>
                        </a:rPr>
                        <a:t>FPGA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681140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デジタルオシロでの評価。</a:t>
                      </a:r>
                      <a:r>
                        <a:rPr lang="en-US" sz="1350" kern="100">
                          <a:effectLst/>
                        </a:rPr>
                        <a:t>485</a:t>
                      </a:r>
                      <a:r>
                        <a:rPr lang="ja-JP" sz="1350" kern="100">
                          <a:effectLst/>
                        </a:rPr>
                        <a:t>等の遠距離通信。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681140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業務用新ヘッド搭載のプリンタ新機種開発。重量巻取り装置開発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  <a:tr h="679334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技術課長として、部下</a:t>
                      </a:r>
                      <a:r>
                        <a:rPr lang="en-US" sz="1350" kern="100">
                          <a:effectLst/>
                        </a:rPr>
                        <a:t>14</a:t>
                      </a:r>
                      <a:r>
                        <a:rPr lang="ja-JP" sz="1350" kern="100">
                          <a:effectLst/>
                        </a:rPr>
                        <a:t>名をマネージメント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8513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16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E4EE-8902-478D-8ACE-C16C838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200"/>
              <a:t>5</a:t>
            </a:r>
            <a:r>
              <a:rPr lang="ja-JP" altLang="en-US" sz="3200"/>
              <a:t>．現職での知識とスキル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4ACC5-E478-48E5-92D9-268222BB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577C90-1FA2-4B7D-9864-C5140832BF80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ABCCC533-29D1-47C1-9456-7F86F9E5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545977"/>
              </p:ext>
            </p:extLst>
          </p:nvPr>
        </p:nvGraphicFramePr>
        <p:xfrm>
          <a:off x="1212529" y="1745435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Kicad</a:t>
                      </a:r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を使ったボード設計。マイコンと周辺回路のデザイン。</a:t>
                      </a:r>
                      <a:endParaRPr lang="ja-JP" sz="135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デジタルオシロでの評価。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荷重試験機</a:t>
                      </a:r>
                      <a:endParaRPr lang="ja-JP" sz="135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ABEA76-79AF-7621-611C-A701BBC6FF16}"/>
              </a:ext>
            </a:extLst>
          </p:cNvPr>
          <p:cNvSpPr txBox="1"/>
          <p:nvPr/>
        </p:nvSpPr>
        <p:spPr>
          <a:xfrm>
            <a:off x="1114207" y="1403192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ea typeface="+mn-lt"/>
              </a:rPr>
              <a:t>A</a:t>
            </a:r>
            <a:r>
              <a:rPr lang="ja-JP" sz="1400">
                <a:ea typeface="游ゴシック"/>
              </a:rPr>
              <a:t>社向け荷重試験機開発</a:t>
            </a:r>
          </a:p>
        </p:txBody>
      </p:sp>
      <p:graphicFrame>
        <p:nvGraphicFramePr>
          <p:cNvPr id="11" name="コンテンツ プレースホルダー 8">
            <a:extLst>
              <a:ext uri="{FF2B5EF4-FFF2-40B4-BE49-F238E27FC236}">
                <a16:creationId xmlns:a16="http://schemas.microsoft.com/office/drawing/2014/main" id="{EFEE2F19-35F2-CFFB-A98A-716D22AEF1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1013617"/>
              </p:ext>
            </p:extLst>
          </p:nvPr>
        </p:nvGraphicFramePr>
        <p:xfrm>
          <a:off x="1212529" y="3437380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Vivado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Vitis、Quartus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 prime、e2 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studio、CS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+、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LTspice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</a:rPr>
                        <a:t>EMC評価とその対策業務</a:t>
                      </a:r>
                      <a:r>
                        <a:rPr lang="ja-JP" sz="1350" kern="100">
                          <a:effectLst/>
                        </a:rPr>
                        <a:t>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ロボット用FPGA開発、マイコン開発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6C84A1D-7146-D1FD-DE9A-9DDA87CE310C}"/>
              </a:ext>
            </a:extLst>
          </p:cNvPr>
          <p:cNvSpPr txBox="1"/>
          <p:nvPr/>
        </p:nvSpPr>
        <p:spPr>
          <a:xfrm>
            <a:off x="1114207" y="3143370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ea typeface="游ゴシック"/>
              </a:rPr>
              <a:t>W</a:t>
            </a:r>
            <a:r>
              <a:rPr lang="ja-JP" sz="1400">
                <a:ea typeface="游ゴシック"/>
              </a:rPr>
              <a:t>社での派遣先</a:t>
            </a:r>
            <a:r>
              <a:rPr lang="ja-JP" altLang="en-US" sz="1400">
                <a:ea typeface="游ゴシック"/>
              </a:rPr>
              <a:t>業務</a:t>
            </a:r>
          </a:p>
        </p:txBody>
      </p:sp>
      <p:graphicFrame>
        <p:nvGraphicFramePr>
          <p:cNvPr id="6" name="コンテンツ プレースホルダー 8">
            <a:extLst>
              <a:ext uri="{FF2B5EF4-FFF2-40B4-BE49-F238E27FC236}">
                <a16:creationId xmlns:a16="http://schemas.microsoft.com/office/drawing/2014/main" id="{239EFCF0-D4B1-A310-D40B-990C71C3EB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6038988"/>
              </p:ext>
            </p:extLst>
          </p:nvPr>
        </p:nvGraphicFramePr>
        <p:xfrm>
          <a:off x="1212529" y="5129325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Vivado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Vitis、Vscode</a:t>
                      </a:r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LTspice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>
                          <a:effectLst/>
                        </a:rPr>
                        <a:t>PMIC</a:t>
                      </a:r>
                      <a:r>
                        <a:rPr lang="ja-JP" altLang="en-US" sz="1350" kern="100">
                          <a:effectLst/>
                        </a:rPr>
                        <a:t>評価装置業務。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kern="100">
                          <a:effectLst/>
                          <a:latin typeface="Century" panose="020406040505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サポート業務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組織の技術力強化、半導体技術教育の推進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F26316D-A5D5-11C9-672E-B3249FE4C682}"/>
              </a:ext>
            </a:extLst>
          </p:cNvPr>
          <p:cNvSpPr txBox="1"/>
          <p:nvPr/>
        </p:nvSpPr>
        <p:spPr>
          <a:xfrm>
            <a:off x="1114207" y="4821548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ea typeface="游ゴシック"/>
              </a:rPr>
              <a:t>D</a:t>
            </a:r>
            <a:r>
              <a:rPr lang="ja-JP" sz="1400">
                <a:ea typeface="游ゴシック"/>
              </a:rPr>
              <a:t>社での派遣先</a:t>
            </a:r>
            <a:r>
              <a:rPr lang="ja-JP" altLang="en-US" sz="1400">
                <a:ea typeface="游ゴシック"/>
              </a:rPr>
              <a:t>業務</a:t>
            </a:r>
          </a:p>
        </p:txBody>
      </p:sp>
    </p:spTree>
    <p:extLst>
      <p:ext uri="{BB962C8B-B14F-4D97-AF65-F5344CB8AC3E}">
        <p14:creationId xmlns:p14="http://schemas.microsoft.com/office/powerpoint/2010/main" val="133910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B11AF7-4B10-4F1F-A3E1-30F53647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６．基板製作スキル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93FAB4-89EB-4A03-9169-0AC4E751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944B67E-65A5-405E-A1FB-894AD468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25" y="1545332"/>
            <a:ext cx="2159239" cy="105288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6E65800-F7CB-4822-BE3F-D569239D0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57" y="1545331"/>
            <a:ext cx="2595302" cy="105288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6E30DBA-2B73-452A-99D2-3FF13F825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368" y="2641655"/>
            <a:ext cx="2156972" cy="1127619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D662B09-6BF1-445E-AB9A-3AC7504DD21A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pic>
        <p:nvPicPr>
          <p:cNvPr id="3" name="図 2" descr="黒い背景と白い文字のロゴ&#10;&#10;AI 生成コンテンツは間違っている可能性があります。">
            <a:extLst>
              <a:ext uri="{FF2B5EF4-FFF2-40B4-BE49-F238E27FC236}">
                <a16:creationId xmlns:a16="http://schemas.microsoft.com/office/drawing/2014/main" id="{9D086D50-004E-D4DB-CBA9-63B9D323F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84" y="5068660"/>
            <a:ext cx="2156048" cy="146957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F841976-C23D-746E-E479-25A6DBCFB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367" y="5070412"/>
            <a:ext cx="2159240" cy="1452463"/>
          </a:xfrm>
          <a:prstGeom prst="rect">
            <a:avLst/>
          </a:prstGeom>
        </p:spPr>
      </p:pic>
      <p:pic>
        <p:nvPicPr>
          <p:cNvPr id="7" name="図 6" descr="電子機器, 回路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C3C88816-30E9-7CDC-C5C4-34120A6102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5583" y="5066806"/>
            <a:ext cx="2598965" cy="146957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E73ED53-D808-01A2-0BAF-1CB81B0639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6032" y="3816041"/>
            <a:ext cx="2598066" cy="1207604"/>
          </a:xfrm>
          <a:prstGeom prst="rect">
            <a:avLst/>
          </a:prstGeom>
        </p:spPr>
      </p:pic>
      <p:pic>
        <p:nvPicPr>
          <p:cNvPr id="11" name="図 10" descr="カレンダー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B2EA25C0-4385-FA8D-AB25-7E6DB0CDAD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360" y="2647856"/>
            <a:ext cx="2156972" cy="1127619"/>
          </a:xfrm>
          <a:prstGeom prst="rect">
            <a:avLst/>
          </a:prstGeom>
        </p:spPr>
      </p:pic>
      <p:pic>
        <p:nvPicPr>
          <p:cNvPr id="12" name="図 11" descr="カレンダー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C819054F-1791-1388-9908-1E96148C9F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360" y="3820171"/>
            <a:ext cx="2156972" cy="120379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7CD2F9F-4E9B-A2A8-43D6-4E66A3EB69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4192" y="2647856"/>
            <a:ext cx="2598066" cy="112141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4793120-410E-0E3B-F118-F7D5F02333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8367" y="3816041"/>
            <a:ext cx="2159239" cy="1207604"/>
          </a:xfrm>
          <a:prstGeom prst="rect">
            <a:avLst/>
          </a:prstGeom>
        </p:spPr>
      </p:pic>
      <p:pic>
        <p:nvPicPr>
          <p:cNvPr id="16" name="図 15" descr="グラフィカル ユーザー インターフェイス&#10;&#10;AI 生成コンテンツは間違っている可能性があります。">
            <a:extLst>
              <a:ext uri="{FF2B5EF4-FFF2-40B4-BE49-F238E27FC236}">
                <a16:creationId xmlns:a16="http://schemas.microsoft.com/office/drawing/2014/main" id="{A53B3C2E-2EC2-9190-3E93-3191C2098B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8368" y="1545332"/>
            <a:ext cx="2159240" cy="105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66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1480</Words>
  <Application>Microsoft Office PowerPoint</Application>
  <PresentationFormat>画面に合わせる (4:3)</PresentationFormat>
  <Paragraphs>174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1" baseType="lpstr">
      <vt:lpstr>ＭＳ ゴシック</vt:lpstr>
      <vt:lpstr>游ゴシック</vt:lpstr>
      <vt:lpstr>游ゴシック Light</vt:lpstr>
      <vt:lpstr>Aptos</vt:lpstr>
      <vt:lpstr>Arial</vt:lpstr>
      <vt:lpstr>Calibri</vt:lpstr>
      <vt:lpstr>Century</vt:lpstr>
      <vt:lpstr>Wingdings</vt:lpstr>
      <vt:lpstr>Office テーマ</vt:lpstr>
      <vt:lpstr>業務経歴＆スキル概略資料</vt:lpstr>
      <vt:lpstr>１．業務経歴①</vt:lpstr>
      <vt:lpstr>１．業務経歴②</vt:lpstr>
      <vt:lpstr>１．業務経歴③</vt:lpstr>
      <vt:lpstr>１．業務経歴④</vt:lpstr>
      <vt:lpstr>１．業務経歴⑤</vt:lpstr>
      <vt:lpstr>１．業務経歴⑥</vt:lpstr>
      <vt:lpstr>２．S社での知識とスキル</vt:lpstr>
      <vt:lpstr>３．N社での知識とスキル</vt:lpstr>
      <vt:lpstr>４．M社での知識とスキル</vt:lpstr>
      <vt:lpstr>5．現職での知識とスキル</vt:lpstr>
      <vt:lpstr>６．基板製作スキル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技術資料説明資料</dc:title>
  <dc:creator>伊藤 浩也</dc:creator>
  <cp:lastModifiedBy>Hiroya Ito (伊藤 浩也)</cp:lastModifiedBy>
  <cp:revision>6</cp:revision>
  <cp:lastPrinted>2021-09-10T09:55:21Z</cp:lastPrinted>
  <dcterms:created xsi:type="dcterms:W3CDTF">2019-04-01T23:43:14Z</dcterms:created>
  <dcterms:modified xsi:type="dcterms:W3CDTF">2026-05-27T02:55:38Z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2026-05-25T04:19:17Z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2cd2443a-80c0-46cc-9970-4ffdf8299312</vt:lpwstr>
  </property>
  <property fmtid="{D5CDD505-2E9C-101B-9397-08002B2CF9AE}" pid="8" name="MSIP_Label_7ed1414a-99f2-46f9-bbe5-740af8d1b502_ContentBits">
    <vt:lpwstr>1</vt:lpwstr>
  </property>
  <property fmtid="{D5CDD505-2E9C-101B-9397-08002B2CF9AE}" pid="9" name="MSIP_Label_7ed1414a-99f2-46f9-bbe5-740af8d1b502_Tag">
    <vt:lpwstr>10, 3, 0, 1</vt:lpwstr>
  </property>
  <property fmtid="{D5CDD505-2E9C-101B-9397-08002B2CF9AE}" pid="10" name="ClassificationContentMarkingHeaderLocations">
    <vt:lpwstr>Office テーマ:8</vt:lpwstr>
  </property>
  <property fmtid="{D5CDD505-2E9C-101B-9397-08002B2CF9AE}" pid="11" name="ClassificationContentMarkingHeaderText">
    <vt:lpwstr>CONFIDENTIAL</vt:lpwstr>
  </property>
</Properties>
</file>