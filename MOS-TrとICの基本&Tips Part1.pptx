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59" r:id="rId4"/>
    <p:sldId id="274" r:id="rId5"/>
    <p:sldId id="272" r:id="rId6"/>
    <p:sldId id="273" r:id="rId7"/>
    <p:sldId id="262" r:id="rId8"/>
    <p:sldId id="279" r:id="rId9"/>
    <p:sldId id="280" r:id="rId10"/>
    <p:sldId id="263" r:id="rId11"/>
    <p:sldId id="270" r:id="rId12"/>
    <p:sldId id="271" r:id="rId13"/>
    <p:sldId id="269" r:id="rId14"/>
    <p:sldId id="276" r:id="rId15"/>
    <p:sldId id="275" r:id="rId16"/>
    <p:sldId id="268" r:id="rId17"/>
    <p:sldId id="281" r:id="rId18"/>
    <p:sldId id="277" r:id="rId19"/>
    <p:sldId id="278" r:id="rId20"/>
    <p:sldId id="267" r:id="rId21"/>
    <p:sldId id="258" r:id="rId22"/>
    <p:sldId id="266" r:id="rId23"/>
    <p:sldId id="265" r:id="rId24"/>
    <p:sldId id="260" r:id="rId25"/>
    <p:sldId id="261" r:id="rId26"/>
    <p:sldId id="264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57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4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BC1FEF-5815-4FA7-B088-7F134D575880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3485EB-564B-4F78-A639-EF90F2DDEAA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0019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3FD43-04ED-4922-A50A-6E0E6A9460FC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904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5361-5D3E-4DE8-94AD-76EF6A01530A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51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8AA6C-EEF7-4A39-AE70-F268EE429606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456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906B-DA29-4AA8-8BA8-632327AA2979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962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26FF7-7225-4831-B44F-F92426AE6246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1747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EC860-4162-42FD-87EE-A80E837454D4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6023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F43D2-5878-4E6F-9868-0D0CACD9574F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069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BCA-E6B1-4D0A-A3A4-0173B0C5BB8E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2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8F53-4FB2-4812-888A-5F80D9C3DB5E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3910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9F5A1-AD4C-4385-876F-1A474FE80D06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039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66BA3-E7E5-4575-873C-7041B36E8166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9544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FD6124-611E-4166-817E-4F498A1E7EF8}" type="datetime1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48EE54-420E-6C2A-3CDA-FE20AC85E99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825386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hyperlink" Target="https://denjoforest.com/built-in-potential" TargetMode="Externa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D78E2D-AF2A-E32C-5B36-2D8D562DCB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258100"/>
          </a:xfrm>
        </p:spPr>
        <p:txBody>
          <a:bodyPr>
            <a:normAutofit/>
          </a:bodyPr>
          <a:lstStyle/>
          <a:p>
            <a:r>
              <a:rPr lang="en-US" altLang="ja-JP" sz="4000" dirty="0"/>
              <a:t>MOS-Tr</a:t>
            </a:r>
            <a:r>
              <a:rPr lang="ja-JP" altLang="en-US" sz="4000" dirty="0"/>
              <a:t>と</a:t>
            </a:r>
            <a:r>
              <a:rPr lang="en-US" altLang="ja-JP" sz="4000" dirty="0"/>
              <a:t>IC</a:t>
            </a:r>
            <a:r>
              <a:rPr lang="ja-JP" altLang="en-US" sz="4000" dirty="0"/>
              <a:t>の基本</a:t>
            </a:r>
            <a:r>
              <a:rPr lang="en-US" altLang="ja-JP" sz="4000" dirty="0"/>
              <a:t>&amp;Tips</a:t>
            </a:r>
            <a:br>
              <a:rPr lang="en-US" altLang="ja-JP" sz="4000" dirty="0"/>
            </a:br>
            <a:r>
              <a:rPr lang="en-US" altLang="ja-JP" sz="4000" dirty="0"/>
              <a:t>(Part 1)</a:t>
            </a:r>
            <a:endParaRPr kumimoji="1" lang="ja-JP" altLang="en-US" sz="40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822D32D-81CC-C695-B754-4F61EEEAA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8901" y="4428418"/>
            <a:ext cx="2726197" cy="716028"/>
          </a:xfrm>
        </p:spPr>
        <p:txBody>
          <a:bodyPr>
            <a:normAutofit fontScale="92500" lnSpcReduction="20000"/>
          </a:bodyPr>
          <a:lstStyle/>
          <a:p>
            <a:r>
              <a:rPr lang="en-US" altLang="ja-JP" dirty="0"/>
              <a:t>2025.12.04</a:t>
            </a:r>
          </a:p>
          <a:p>
            <a:r>
              <a:rPr lang="ja-JP" altLang="en-US" dirty="0"/>
              <a:t>開発３課　伊藤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DF14C81-1FAB-C212-BEF9-4B870D242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435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BF70A8-5848-CB3C-A8BC-73382703F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ja-JP" sz="3200" dirty="0"/>
              <a:t>Index</a:t>
            </a:r>
          </a:p>
          <a:p>
            <a:pPr marL="0" indent="0">
              <a:buNone/>
            </a:pPr>
            <a:r>
              <a:rPr kumimoji="1" lang="en-US" altLang="ja-JP" sz="2400" dirty="0"/>
              <a:t>(1) CMOS &amp; Bipolar</a:t>
            </a:r>
            <a:r>
              <a:rPr kumimoji="1" lang="ja-JP" altLang="en-US" sz="2400" dirty="0"/>
              <a:t>の</a:t>
            </a:r>
            <a:r>
              <a:rPr lang="ja-JP" altLang="en-US" sz="2400" dirty="0"/>
              <a:t>デバイス構造。</a:t>
            </a:r>
            <a:endParaRPr kumimoji="1" lang="ja-JP" altLang="en-US" sz="2400" dirty="0"/>
          </a:p>
          <a:p>
            <a:pPr marL="0" indent="0">
              <a:buNone/>
            </a:pPr>
            <a:r>
              <a:rPr kumimoji="1" lang="en-US" altLang="ja-JP" sz="2400" dirty="0"/>
              <a:t>(2) MOS</a:t>
            </a:r>
            <a:r>
              <a:rPr kumimoji="1" lang="ja-JP" altLang="en-US" sz="2400" dirty="0"/>
              <a:t>トランジスタの動作原理、（空乏層、強反転、</a:t>
            </a:r>
            <a:endParaRPr kumimoji="1" lang="en-US" altLang="ja-JP" sz="2400" dirty="0"/>
          </a:p>
          <a:p>
            <a:pPr marL="0" indent="0">
              <a:buNone/>
            </a:pPr>
            <a:r>
              <a:rPr lang="en-US" altLang="ja-JP" sz="2400" dirty="0"/>
              <a:t>    </a:t>
            </a:r>
            <a:r>
              <a:rPr kumimoji="1" lang="ja-JP" altLang="en-US" sz="2400" dirty="0"/>
              <a:t>  ピンチオフ）、温度特性式</a:t>
            </a:r>
            <a:r>
              <a:rPr lang="ja-JP" altLang="en-US" sz="2400" dirty="0"/>
              <a:t>。</a:t>
            </a:r>
            <a:br>
              <a:rPr lang="en-US" altLang="ja-JP" sz="2400" dirty="0"/>
            </a:br>
            <a:r>
              <a:rPr lang="ja-JP" altLang="en-US" sz="2400" dirty="0"/>
              <a:t>　  対比として、</a:t>
            </a:r>
            <a:r>
              <a:rPr lang="en-US" altLang="ja-JP" sz="2400" dirty="0"/>
              <a:t>CCD</a:t>
            </a:r>
            <a:r>
              <a:rPr lang="ja-JP" altLang="en-US" sz="2400" dirty="0"/>
              <a:t>、</a:t>
            </a:r>
            <a:r>
              <a:rPr lang="en-US" altLang="ja-JP" sz="2400" dirty="0"/>
              <a:t>MOS</a:t>
            </a:r>
            <a:r>
              <a:rPr lang="ja-JP" altLang="en-US" sz="2400" dirty="0"/>
              <a:t>センサの動作</a:t>
            </a:r>
            <a:endParaRPr lang="en-US" altLang="ja-JP" sz="2400" dirty="0"/>
          </a:p>
          <a:p>
            <a:pPr marL="0" indent="0">
              <a:buNone/>
            </a:pPr>
            <a:r>
              <a:rPr kumimoji="1" lang="en-US" altLang="ja-JP" sz="2400" dirty="0"/>
              <a:t>(3) MOS</a:t>
            </a:r>
            <a:r>
              <a:rPr kumimoji="1" lang="ja-JP" altLang="en-US" sz="2400" dirty="0"/>
              <a:t>の論理回路</a:t>
            </a:r>
            <a:r>
              <a:rPr kumimoji="1" lang="en-US" altLang="ja-JP" sz="2400" dirty="0"/>
              <a:t>(</a:t>
            </a:r>
            <a:r>
              <a:rPr kumimoji="1" lang="en-US" altLang="ja-JP" sz="2400" dirty="0" err="1"/>
              <a:t>inv,nand,nor</a:t>
            </a:r>
            <a:r>
              <a:rPr kumimoji="1" lang="en-US" altLang="ja-JP" sz="2400" dirty="0"/>
              <a:t>)</a:t>
            </a:r>
            <a:r>
              <a:rPr lang="ja-JP" altLang="en-US" sz="2400" dirty="0"/>
              <a:t>、アナログ</a:t>
            </a:r>
            <a:r>
              <a:rPr lang="en-US" altLang="ja-JP" sz="2400" dirty="0"/>
              <a:t>SW</a:t>
            </a:r>
            <a:r>
              <a:rPr kumimoji="1" lang="ja-JP" altLang="en-US" sz="2400" dirty="0"/>
              <a:t>、</a:t>
            </a:r>
            <a:r>
              <a:rPr lang="ja-JP" altLang="en-US" sz="2400" dirty="0"/>
              <a:t>ショットキーダイオード、シャントレギュレータ、</a:t>
            </a:r>
            <a:r>
              <a:rPr kumimoji="1" lang="ja-JP" altLang="en-US" sz="2400" dirty="0"/>
              <a:t>レイアウト事例、</a:t>
            </a:r>
            <a:r>
              <a:rPr kumimoji="1" lang="en-US" altLang="ja-JP" sz="2400" dirty="0"/>
              <a:t>IO</a:t>
            </a:r>
            <a:r>
              <a:rPr kumimoji="1" lang="ja-JP" altLang="en-US" sz="2400" dirty="0"/>
              <a:t>周辺、標準ロジックの</a:t>
            </a:r>
            <a:r>
              <a:rPr kumimoji="1" lang="en-US" altLang="ja-JP" sz="2400" dirty="0"/>
              <a:t>IO</a:t>
            </a:r>
            <a:r>
              <a:rPr kumimoji="1" lang="ja-JP" altLang="en-US" sz="2400" dirty="0"/>
              <a:t>トレラント。</a:t>
            </a:r>
            <a:endParaRPr kumimoji="1" lang="en-US" altLang="ja-JP" sz="2400" dirty="0"/>
          </a:p>
          <a:p>
            <a:pPr marL="0" indent="0">
              <a:buNone/>
            </a:pPr>
            <a:endParaRPr kumimoji="1" lang="ja-JP" altLang="en-US" sz="2400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EAADB4-9B02-A9DC-9385-326FAAA4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3209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2800" dirty="0"/>
              <a:t>MOS</a:t>
            </a:r>
            <a:r>
              <a:rPr lang="en-US" altLang="ja-JP" sz="2800" dirty="0"/>
              <a:t>-Tr</a:t>
            </a:r>
            <a:r>
              <a:rPr lang="ja-JP" altLang="en-US" sz="2800" dirty="0"/>
              <a:t>のディスクリート＆</a:t>
            </a:r>
            <a:r>
              <a:rPr lang="en-US" altLang="ja-JP" sz="2800" dirty="0"/>
              <a:t>IC</a:t>
            </a:r>
            <a:r>
              <a:rPr lang="ja-JP" altLang="en-US" sz="2800" dirty="0"/>
              <a:t>のデバイス構造</a:t>
            </a:r>
            <a:endParaRPr kumimoji="1" lang="ja-JP" altLang="en-US" sz="28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535C7FD3-2E05-8944-1AE6-822190BFD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8961" y="2153470"/>
            <a:ext cx="2379387" cy="1555155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8153B5-CB0F-1C2C-83E8-D06F8289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C78D4A-105C-1079-449E-0E4E01456E05}"/>
              </a:ext>
            </a:extLst>
          </p:cNvPr>
          <p:cNvSpPr txBox="1"/>
          <p:nvPr/>
        </p:nvSpPr>
        <p:spPr>
          <a:xfrm>
            <a:off x="1058959" y="1507139"/>
            <a:ext cx="2379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ディスクリート</a:t>
            </a:r>
            <a:r>
              <a:rPr kumimoji="1" lang="en-US" altLang="ja-JP" dirty="0" err="1"/>
              <a:t>Nch</a:t>
            </a:r>
            <a:r>
              <a:rPr kumimoji="1" lang="en-US" altLang="ja-JP" dirty="0"/>
              <a:t>-MOS FET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38FAE7D-2772-CCD5-5D6D-58B0C093A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958" y="4778524"/>
            <a:ext cx="2379387" cy="157782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D903D6-7BFB-E700-4A88-2A41E9FED115}"/>
              </a:ext>
            </a:extLst>
          </p:cNvPr>
          <p:cNvSpPr txBox="1"/>
          <p:nvPr/>
        </p:nvSpPr>
        <p:spPr>
          <a:xfrm>
            <a:off x="1058958" y="4116638"/>
            <a:ext cx="2379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ディスクリート</a:t>
            </a:r>
            <a:r>
              <a:rPr kumimoji="1" lang="en-US" altLang="ja-JP" dirty="0" err="1"/>
              <a:t>Pch</a:t>
            </a:r>
            <a:r>
              <a:rPr kumimoji="1" lang="en-US" altLang="ja-JP" dirty="0"/>
              <a:t>-MOS FET</a:t>
            </a:r>
            <a:endParaRPr kumimoji="1" lang="ja-JP" altLang="en-US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E1CA56-C391-064D-8372-E3BCDB8EF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872" y="3689017"/>
            <a:ext cx="4227286" cy="2079454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1A32821-2E8A-881F-0897-AF13ABF4B811}"/>
              </a:ext>
            </a:extLst>
          </p:cNvPr>
          <p:cNvSpPr txBox="1"/>
          <p:nvPr/>
        </p:nvSpPr>
        <p:spPr>
          <a:xfrm>
            <a:off x="4855624" y="3283416"/>
            <a:ext cx="280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</a:t>
            </a:r>
            <a:r>
              <a:rPr kumimoji="1" lang="en-US" altLang="ja-JP" dirty="0"/>
              <a:t>CMOS Tr (inverter)</a:t>
            </a:r>
            <a:endParaRPr kumimoji="1" lang="ja-JP" altLang="en-US" dirty="0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B356BF06-4EFE-D583-A704-66016C14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230" y="1923394"/>
            <a:ext cx="1367970" cy="1243011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73F6F009-D9BF-4132-BC8A-AAF4228B09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6353" y="2034432"/>
            <a:ext cx="1114581" cy="1005028"/>
          </a:xfrm>
          <a:prstGeom prst="rect">
            <a:avLst/>
          </a:prstGeom>
        </p:spPr>
      </p:pic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B7546A48-3E44-B759-E7FD-13A0D6494D29}"/>
              </a:ext>
            </a:extLst>
          </p:cNvPr>
          <p:cNvSpPr/>
          <p:nvPr/>
        </p:nvSpPr>
        <p:spPr>
          <a:xfrm>
            <a:off x="628650" y="1431608"/>
            <a:ext cx="3196590" cy="242594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538CF066-87EE-C3C1-6867-88A5E7EAFE93}"/>
              </a:ext>
            </a:extLst>
          </p:cNvPr>
          <p:cNvSpPr/>
          <p:nvPr/>
        </p:nvSpPr>
        <p:spPr>
          <a:xfrm>
            <a:off x="650356" y="4041712"/>
            <a:ext cx="3196590" cy="242594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3CFC537-1AE2-BE02-79F4-D6AB073E8199}"/>
              </a:ext>
            </a:extLst>
          </p:cNvPr>
          <p:cNvSpPr/>
          <p:nvPr/>
        </p:nvSpPr>
        <p:spPr>
          <a:xfrm>
            <a:off x="4082415" y="1700461"/>
            <a:ext cx="4751070" cy="431419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408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2800" dirty="0"/>
              <a:t>N</a:t>
            </a:r>
            <a:r>
              <a:rPr kumimoji="1" lang="ja-JP" altLang="en-US" sz="2800" dirty="0"/>
              <a:t>型半導体と</a:t>
            </a:r>
            <a:r>
              <a:rPr kumimoji="1" lang="en-US" altLang="ja-JP" sz="2800" dirty="0"/>
              <a:t>p</a:t>
            </a:r>
            <a:r>
              <a:rPr kumimoji="1" lang="ja-JP" altLang="en-US" sz="2800" dirty="0"/>
              <a:t>型半導体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98A40F1A-C172-FD16-67E0-1492AC31BC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6751" y="1608577"/>
            <a:ext cx="1262170" cy="439015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4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56B423D-6287-6553-98B0-77241A3AB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916" y="2234213"/>
            <a:ext cx="2267525" cy="132556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AF9B41A-265E-DD71-93B1-3B39AE700C1A}"/>
              </a:ext>
            </a:extLst>
          </p:cNvPr>
          <p:cNvSpPr txBox="1"/>
          <p:nvPr/>
        </p:nvSpPr>
        <p:spPr>
          <a:xfrm>
            <a:off x="752408" y="5935980"/>
            <a:ext cx="35585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自由電子として動作する</a:t>
            </a:r>
            <a:r>
              <a:rPr kumimoji="1" lang="en-US" altLang="ja-JP" sz="1600" dirty="0"/>
              <a:t>n</a:t>
            </a:r>
            <a:r>
              <a:rPr kumimoji="1" lang="ja-JP" altLang="en-US" sz="1600" dirty="0"/>
              <a:t>型半導体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F13BEFD7-1BDC-CF36-3C94-4FBE41C9F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419" y="1585574"/>
            <a:ext cx="1358463" cy="43901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470D7AD0-D55A-8B9F-53BE-F59831335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323" y="2161068"/>
            <a:ext cx="2167536" cy="1398709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0C29AE1-CAD2-2B6A-3EA7-68ACB7DAC8EA}"/>
              </a:ext>
            </a:extLst>
          </p:cNvPr>
          <p:cNvSpPr txBox="1"/>
          <p:nvPr/>
        </p:nvSpPr>
        <p:spPr>
          <a:xfrm>
            <a:off x="4572000" y="5927105"/>
            <a:ext cx="41890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正の電荷（正孔）として動作する</a:t>
            </a:r>
            <a:r>
              <a:rPr kumimoji="1" lang="en-US" altLang="ja-JP" sz="1600" dirty="0"/>
              <a:t>p</a:t>
            </a:r>
            <a:r>
              <a:rPr kumimoji="1" lang="ja-JP" altLang="en-US" sz="1600" dirty="0"/>
              <a:t>型半導体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0DFBBBB-389A-C5F0-39BE-32D39B657B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995" y="3726208"/>
            <a:ext cx="4135435" cy="193447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FB0E619-D0AA-DA96-8D48-3F5AE5BD9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7712" y="3696256"/>
            <a:ext cx="4124458" cy="191428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D8C95-5C55-1D5C-DE6D-F527EDBC7E90}"/>
              </a:ext>
            </a:extLst>
          </p:cNvPr>
          <p:cNvSpPr txBox="1"/>
          <p:nvPr/>
        </p:nvSpPr>
        <p:spPr>
          <a:xfrm>
            <a:off x="1097321" y="5382832"/>
            <a:ext cx="1917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solidFill>
                  <a:srgbClr val="FF0000"/>
                </a:solidFill>
              </a:rPr>
              <a:t>45meV</a:t>
            </a:r>
            <a:r>
              <a:rPr kumimoji="1" lang="ja-JP" altLang="en-US" sz="1200" dirty="0">
                <a:solidFill>
                  <a:srgbClr val="FF0000"/>
                </a:solidFill>
              </a:rPr>
              <a:t>で自由電子に励起</a:t>
            </a:r>
          </a:p>
        </p:txBody>
      </p:sp>
    </p:spTree>
    <p:extLst>
      <p:ext uri="{BB962C8B-B14F-4D97-AF65-F5344CB8AC3E}">
        <p14:creationId xmlns:p14="http://schemas.microsoft.com/office/powerpoint/2010/main" val="2465845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4000" dirty="0"/>
              <a:t>MOS</a:t>
            </a:r>
            <a:r>
              <a:rPr kumimoji="1" lang="ja-JP" altLang="en-US" sz="4000" dirty="0"/>
              <a:t>トランジスタの動作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480FF569-8AB3-F263-0CD2-88F010A700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8003" y="1547080"/>
            <a:ext cx="2775784" cy="2094414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84BE906-80B1-6DF5-06CB-4C6901D9A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684" y="1500337"/>
            <a:ext cx="2909455" cy="2165928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C4CA6917-8F14-8D01-A78C-E4074BECA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202" y="3898588"/>
            <a:ext cx="2847585" cy="217047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6B5AC54-43B8-8090-E8EC-75FADE4BE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683" y="3898588"/>
            <a:ext cx="2788137" cy="2086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43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4000" dirty="0"/>
              <a:t>MOS</a:t>
            </a:r>
            <a:r>
              <a:rPr kumimoji="1" lang="ja-JP" altLang="en-US" sz="4000" dirty="0"/>
              <a:t>トランジスタの動作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6</a:t>
            </a:fld>
            <a:endParaRPr kumimoji="1" lang="ja-JP" altLang="en-US"/>
          </a:p>
        </p:txBody>
      </p:sp>
      <p:pic>
        <p:nvPicPr>
          <p:cNvPr id="12" name="コンテンツ プレースホルダー 11">
            <a:extLst>
              <a:ext uri="{FF2B5EF4-FFF2-40B4-BE49-F238E27FC236}">
                <a16:creationId xmlns:a16="http://schemas.microsoft.com/office/drawing/2014/main" id="{D3658576-E034-666E-DD11-51235E3816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655" y="1780282"/>
            <a:ext cx="2792100" cy="21581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57D3450-05F8-22EF-9930-88A79595F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222" y="1788065"/>
            <a:ext cx="2909455" cy="2165928"/>
          </a:xfrm>
          <a:prstGeom prst="rect">
            <a:avLst/>
          </a:prstGeom>
        </p:spPr>
      </p:pic>
      <p:sp>
        <p:nvSpPr>
          <p:cNvPr id="15" name="矢印: 右 14">
            <a:extLst>
              <a:ext uri="{FF2B5EF4-FFF2-40B4-BE49-F238E27FC236}">
                <a16:creationId xmlns:a16="http://schemas.microsoft.com/office/drawing/2014/main" id="{5A9122E5-74F5-626C-BAA6-5E554E359D63}"/>
              </a:ext>
            </a:extLst>
          </p:cNvPr>
          <p:cNvSpPr/>
          <p:nvPr/>
        </p:nvSpPr>
        <p:spPr>
          <a:xfrm>
            <a:off x="4394647" y="2780984"/>
            <a:ext cx="302280" cy="3022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31B3CD06-B678-A4C7-993B-6D72C5438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7738" y="4186800"/>
            <a:ext cx="1080510" cy="297532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7C16AF29-571B-8FDD-C499-F48E7E73B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430" y="4715712"/>
            <a:ext cx="2133898" cy="638264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E00FE0BF-76FA-CB85-2517-34A71BEF4A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5430" y="5495170"/>
            <a:ext cx="3013062" cy="109719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C476AAB0-9319-6A34-180E-BA327F08CF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6927" y="5983118"/>
            <a:ext cx="3307764" cy="455908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A1EAB3FB-018D-9A29-92D1-FA64A4728A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8060" y="4221681"/>
            <a:ext cx="3419777" cy="1572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649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ja-JP" altLang="en-US" sz="2800" dirty="0"/>
              <a:t>線形領域と飽和領域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BD0C6B17-FE9E-D568-273D-6B5B82F6D0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04153" y="1690689"/>
            <a:ext cx="4956767" cy="3925888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70BF7C-EA92-D886-1FE5-A89B0BE3E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026A79F-4414-645D-9700-85AA4BECCA30}"/>
              </a:ext>
            </a:extLst>
          </p:cNvPr>
          <p:cNvSpPr/>
          <p:nvPr/>
        </p:nvSpPr>
        <p:spPr>
          <a:xfrm>
            <a:off x="2962348" y="3846523"/>
            <a:ext cx="83127" cy="1057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9681FAA9-31F1-C07E-4FE3-7B44C3002E5E}"/>
              </a:ext>
            </a:extLst>
          </p:cNvPr>
          <p:cNvCxnSpPr/>
          <p:nvPr/>
        </p:nvCxnSpPr>
        <p:spPr>
          <a:xfrm flipH="1" flipV="1">
            <a:off x="3045475" y="3952321"/>
            <a:ext cx="430756" cy="1163785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3BC17D-A6E5-FA1B-0D6B-05BC930DB232}"/>
              </a:ext>
            </a:extLst>
          </p:cNvPr>
          <p:cNvSpPr txBox="1"/>
          <p:nvPr/>
        </p:nvSpPr>
        <p:spPr>
          <a:xfrm>
            <a:off x="2818770" y="5116106"/>
            <a:ext cx="1753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solidFill>
                  <a:srgbClr val="FF0000"/>
                </a:solidFill>
              </a:rPr>
              <a:t>2</a:t>
            </a:r>
            <a:r>
              <a:rPr kumimoji="1" lang="ja-JP" altLang="en-US" sz="1200" dirty="0">
                <a:solidFill>
                  <a:srgbClr val="FF0000"/>
                </a:solidFill>
              </a:rPr>
              <a:t>次関数の頂点の</a:t>
            </a:r>
            <a:r>
              <a:rPr kumimoji="1" lang="en-US" altLang="ja-JP" sz="1200" dirty="0">
                <a:solidFill>
                  <a:srgbClr val="FF0000"/>
                </a:solidFill>
              </a:rPr>
              <a:t>X</a:t>
            </a:r>
            <a:r>
              <a:rPr kumimoji="1" lang="ja-JP" altLang="en-US" sz="1200" dirty="0">
                <a:solidFill>
                  <a:srgbClr val="FF0000"/>
                </a:solidFill>
              </a:rPr>
              <a:t>座標</a:t>
            </a:r>
            <a:endParaRPr kumimoji="1" lang="en-US" altLang="ja-JP" sz="1200" dirty="0">
              <a:solidFill>
                <a:srgbClr val="FF0000"/>
              </a:solidFill>
            </a:endParaRPr>
          </a:p>
          <a:p>
            <a:r>
              <a:rPr kumimoji="1" lang="en-US" altLang="ja-JP" sz="1200" dirty="0" err="1">
                <a:solidFill>
                  <a:srgbClr val="FF0000"/>
                </a:solidFill>
              </a:rPr>
              <a:t>Vds</a:t>
            </a:r>
            <a:r>
              <a:rPr kumimoji="1" lang="en-US" altLang="ja-JP" sz="1200" dirty="0">
                <a:solidFill>
                  <a:srgbClr val="FF0000"/>
                </a:solidFill>
              </a:rPr>
              <a:t>=</a:t>
            </a:r>
            <a:r>
              <a:rPr kumimoji="1" lang="en-US" altLang="ja-JP" sz="1200" dirty="0" err="1">
                <a:solidFill>
                  <a:srgbClr val="FF0000"/>
                </a:solidFill>
              </a:rPr>
              <a:t>Vgs</a:t>
            </a:r>
            <a:r>
              <a:rPr kumimoji="1" lang="en-US" altLang="ja-JP" sz="1200" dirty="0">
                <a:solidFill>
                  <a:srgbClr val="FF0000"/>
                </a:solidFill>
              </a:rPr>
              <a:t>-Vth</a:t>
            </a:r>
            <a:endParaRPr kumimoji="1" lang="ja-JP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87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ja-JP" sz="2400" dirty="0"/>
              <a:t>MOS-Tr </a:t>
            </a:r>
            <a:r>
              <a:rPr lang="ja-JP" altLang="en-US" sz="2400" dirty="0"/>
              <a:t>横型とトレンチ構造</a:t>
            </a:r>
            <a:endParaRPr kumimoji="1" lang="ja-JP" altLang="en-US" sz="2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4219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 dirty="0"/>
              <a:t>狭チャネル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522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ja-JP" altLang="en-US" sz="4000" dirty="0"/>
              <a:t>ドレイン電流</a:t>
            </a:r>
            <a:endParaRPr kumimoji="1" lang="ja-JP" altLang="en-US" sz="40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51D1069E-8815-6008-E329-F022F532E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9792" y="2106875"/>
            <a:ext cx="2825715" cy="2360248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EC16675-6CD1-99C4-A63C-FAE94D6F9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665" y="4836940"/>
            <a:ext cx="3514108" cy="117359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F9C9C9F-7B0A-C089-5B43-AB4FA74B89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1669" y="4836940"/>
            <a:ext cx="3688431" cy="117359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147F94-1405-7590-808D-AB4D91E7E9A7}"/>
              </a:ext>
            </a:extLst>
          </p:cNvPr>
          <p:cNvSpPr txBox="1"/>
          <p:nvPr/>
        </p:nvSpPr>
        <p:spPr>
          <a:xfrm>
            <a:off x="4572000" y="1751687"/>
            <a:ext cx="2078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/>
              <a:t>ドレイン電流算出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3CEA508-BB33-6E4E-AD87-668B3E899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1527" y="2106875"/>
            <a:ext cx="2573018" cy="30777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7567492-A3C1-C7B4-85AA-F47014675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1527" y="2774445"/>
            <a:ext cx="3514108" cy="33499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1C7E45C-42D6-437D-7B46-5DD962E260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1527" y="2475650"/>
            <a:ext cx="1325952" cy="244871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5E37893F-DA70-DC12-4B96-9DE618B05B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1527" y="3441194"/>
            <a:ext cx="2729015" cy="29314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D66DA05-35F2-8FFC-15B6-15FAB4C75B2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1527" y="3163359"/>
            <a:ext cx="564538" cy="212532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65EA3366-DF4D-E7F2-B99B-99AD993AA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1527" y="3820701"/>
            <a:ext cx="3262859" cy="412275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A84F1A4A-9553-61E0-EFB1-E6C071E451A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0598" y="4307456"/>
            <a:ext cx="2791582" cy="33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553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ja-JP" sz="2800" dirty="0"/>
              <a:t>MOS</a:t>
            </a:r>
            <a:r>
              <a:rPr lang="ja-JP" altLang="en-US" sz="2800" dirty="0"/>
              <a:t>トランジスタの小信号モデル</a:t>
            </a:r>
            <a:endParaRPr kumimoji="1" lang="ja-JP" altLang="en-US" sz="28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BABCC9CD-AD5E-E2F7-AC5E-176F6EE87F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7390" y="1963621"/>
            <a:ext cx="3586514" cy="2664461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B79DC2C-027A-BC46-664A-37EDC5B14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666" y="1963621"/>
            <a:ext cx="3981970" cy="2664460"/>
          </a:xfrm>
          <a:prstGeom prst="rect">
            <a:avLst/>
          </a:prstGeom>
        </p:spPr>
      </p:pic>
      <p:sp>
        <p:nvSpPr>
          <p:cNvPr id="9" name="矢印: 下 8">
            <a:extLst>
              <a:ext uri="{FF2B5EF4-FFF2-40B4-BE49-F238E27FC236}">
                <a16:creationId xmlns:a16="http://schemas.microsoft.com/office/drawing/2014/main" id="{0CE873A7-41DD-7E39-FE42-453C9A92FA5E}"/>
              </a:ext>
            </a:extLst>
          </p:cNvPr>
          <p:cNvSpPr/>
          <p:nvPr/>
        </p:nvSpPr>
        <p:spPr>
          <a:xfrm>
            <a:off x="3970524" y="4780322"/>
            <a:ext cx="1082040" cy="5638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7082CC66-2FCB-8822-DECD-48E62B104B8B}"/>
              </a:ext>
            </a:extLst>
          </p:cNvPr>
          <p:cNvCxnSpPr>
            <a:cxnSpLocks/>
          </p:cNvCxnSpPr>
          <p:nvPr/>
        </p:nvCxnSpPr>
        <p:spPr>
          <a:xfrm flipV="1">
            <a:off x="7650480" y="2354580"/>
            <a:ext cx="0" cy="33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457E017-4BEC-20DC-F717-22A93DC45F1C}"/>
              </a:ext>
            </a:extLst>
          </p:cNvPr>
          <p:cNvCxnSpPr>
            <a:cxnSpLocks/>
          </p:cNvCxnSpPr>
          <p:nvPr/>
        </p:nvCxnSpPr>
        <p:spPr>
          <a:xfrm>
            <a:off x="7650480" y="2691289"/>
            <a:ext cx="0" cy="318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EB3454F-E58B-66B7-D4D7-D195684C11E5}"/>
              </a:ext>
            </a:extLst>
          </p:cNvPr>
          <p:cNvSpPr txBox="1"/>
          <p:nvPr/>
        </p:nvSpPr>
        <p:spPr>
          <a:xfrm>
            <a:off x="7650480" y="2400013"/>
            <a:ext cx="1097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＋</a:t>
            </a:r>
            <a:r>
              <a:rPr kumimoji="1" lang="en-US" altLang="ja-JP" sz="1200" dirty="0" err="1"/>
              <a:t>ΔVgs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7C621BF-A3F4-E81E-C8EE-64D72D5FBF4C}"/>
              </a:ext>
            </a:extLst>
          </p:cNvPr>
          <p:cNvSpPr txBox="1"/>
          <p:nvPr/>
        </p:nvSpPr>
        <p:spPr>
          <a:xfrm>
            <a:off x="7108338" y="2677012"/>
            <a:ext cx="1097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-</a:t>
            </a:r>
            <a:r>
              <a:rPr kumimoji="1" lang="en-US" altLang="ja-JP" sz="1200" dirty="0" err="1"/>
              <a:t>ΔVgs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CE396AC-66BE-18D6-83A3-AF5C5507E773}"/>
              </a:ext>
            </a:extLst>
          </p:cNvPr>
          <p:cNvSpPr txBox="1"/>
          <p:nvPr/>
        </p:nvSpPr>
        <p:spPr>
          <a:xfrm>
            <a:off x="4846824" y="4738213"/>
            <a:ext cx="40462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 err="1"/>
              <a:t>ΔVgs</a:t>
            </a:r>
            <a:r>
              <a:rPr kumimoji="1" lang="ja-JP" altLang="en-US" sz="1400" dirty="0"/>
              <a:t>がどの範囲であれば、線形とみなせるか？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E7F10E2-26DC-2660-F4CD-4F64788A0E18}"/>
              </a:ext>
            </a:extLst>
          </p:cNvPr>
          <p:cNvSpPr txBox="1"/>
          <p:nvPr/>
        </p:nvSpPr>
        <p:spPr>
          <a:xfrm>
            <a:off x="2126484" y="5527082"/>
            <a:ext cx="58826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</a:t>
            </a:r>
            <a:r>
              <a:rPr lang="en-US" altLang="ja-JP" dirty="0"/>
              <a:t>Taylor</a:t>
            </a:r>
            <a:r>
              <a:rPr lang="ja-JP" altLang="en-US" dirty="0"/>
              <a:t>展開で二次項の影響が無視できるレベル。</a:t>
            </a:r>
            <a:endParaRPr lang="en-US" altLang="ja-JP" dirty="0"/>
          </a:p>
          <a:p>
            <a:r>
              <a:rPr lang="ja-JP" altLang="en-US" dirty="0"/>
              <a:t>・</a:t>
            </a:r>
            <a:r>
              <a:rPr lang="en-US" altLang="ja-JP" dirty="0"/>
              <a:t>10%</a:t>
            </a:r>
            <a:r>
              <a:rPr lang="ja-JP" altLang="en-US" dirty="0"/>
              <a:t>を超えると歪み（</a:t>
            </a:r>
            <a:r>
              <a:rPr lang="en-US" altLang="ja-JP" dirty="0"/>
              <a:t>2</a:t>
            </a:r>
            <a:r>
              <a:rPr lang="ja-JP" altLang="en-US" dirty="0"/>
              <a:t>次高調波）が急増。</a:t>
            </a:r>
          </a:p>
          <a:p>
            <a:r>
              <a:rPr kumimoji="1" lang="ja-JP" altLang="en-US" dirty="0"/>
              <a:t>・</a:t>
            </a:r>
            <a:r>
              <a:rPr lang="en-US" altLang="ja-JP" dirty="0"/>
              <a:t>RF</a:t>
            </a:r>
            <a:r>
              <a:rPr lang="ja-JP" altLang="en-US" dirty="0"/>
              <a:t>や精密アナログではさらに小さく（数 </a:t>
            </a:r>
            <a:r>
              <a:rPr lang="en-US" altLang="ja-JP" dirty="0"/>
              <a:t>mV</a:t>
            </a:r>
            <a:r>
              <a:rPr lang="ja-JP" altLang="en-US" dirty="0"/>
              <a:t>）。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E3C3D2-B90C-6189-AD94-5C99E632A7BE}"/>
              </a:ext>
            </a:extLst>
          </p:cNvPr>
          <p:cNvSpPr txBox="1"/>
          <p:nvPr/>
        </p:nvSpPr>
        <p:spPr>
          <a:xfrm>
            <a:off x="905905" y="1257711"/>
            <a:ext cx="5882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https://kitagawa.merl.jp/edu/ec1/pdf/10.pdf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385368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ja-JP" altLang="en-US" sz="4000" dirty="0"/>
              <a:t>スイッチ特性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6036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2800" dirty="0"/>
              <a:t>MOSFET</a:t>
            </a:r>
            <a:r>
              <a:rPr kumimoji="1" lang="ja-JP" altLang="en-US" sz="2800" dirty="0"/>
              <a:t>の閾値電圧と基板バイアス効果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DB7AD98-D528-2BFC-598C-4E1CFBADDC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35" y="1924488"/>
            <a:ext cx="1867161" cy="295316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13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43B5FFE-B610-186E-FB82-36BB6C351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93" y="2453603"/>
            <a:ext cx="3224647" cy="222219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9B6D8BCD-E21C-018D-C21C-BD36EAC4E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93" y="5069896"/>
            <a:ext cx="3224647" cy="979338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CB11194-DC38-E866-9EB3-035CBFEAD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7006" y="1892273"/>
            <a:ext cx="1439612" cy="327531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433CB818-A69F-AC5A-22A2-2A80AD0A9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5596" y="2444959"/>
            <a:ext cx="2324708" cy="223083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80F1511B-C3ED-DB2B-3895-D70F9471F4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1219" y="4961423"/>
            <a:ext cx="3147424" cy="937284"/>
          </a:xfrm>
          <a:prstGeom prst="rect">
            <a:avLst/>
          </a:prstGeom>
        </p:spPr>
      </p:pic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625A576-5B86-59BC-C8E0-0FE1C0C84E14}"/>
              </a:ext>
            </a:extLst>
          </p:cNvPr>
          <p:cNvSpPr/>
          <p:nvPr/>
        </p:nvSpPr>
        <p:spPr>
          <a:xfrm>
            <a:off x="7620304" y="5460504"/>
            <a:ext cx="426416" cy="277355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763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2800" dirty="0"/>
              <a:t>PN</a:t>
            </a:r>
            <a:r>
              <a:rPr kumimoji="1" lang="ja-JP" altLang="en-US" sz="2800" dirty="0"/>
              <a:t>接合の</a:t>
            </a:r>
            <a:r>
              <a:rPr kumimoji="1" lang="en-US" altLang="ja-JP" sz="2800" dirty="0" err="1"/>
              <a:t>Vf</a:t>
            </a:r>
            <a:endParaRPr kumimoji="1" lang="ja-JP" altLang="en-US" sz="28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11485"/>
            <a:ext cx="7886700" cy="4862041"/>
          </a:xfrm>
        </p:spPr>
        <p:txBody>
          <a:bodyPr>
            <a:normAutofit/>
          </a:bodyPr>
          <a:lstStyle/>
          <a:p>
            <a:r>
              <a:rPr kumimoji="1" lang="ja-JP" altLang="en-US" sz="2400" dirty="0"/>
              <a:t>参照</a:t>
            </a:r>
            <a:r>
              <a:rPr kumimoji="1" lang="en-US" altLang="ja-JP" sz="2400" dirty="0"/>
              <a:t>URL</a:t>
            </a:r>
            <a:r>
              <a:rPr kumimoji="1" lang="ja-JP" altLang="en-US" sz="2400" dirty="0"/>
              <a:t>　</a:t>
            </a:r>
            <a:r>
              <a:rPr kumimoji="1" lang="en-US" altLang="ja-JP" sz="2400" dirty="0">
                <a:hlinkClick r:id="rId2"/>
              </a:rPr>
              <a:t>https://denjoforest.com/built-in-potential</a:t>
            </a:r>
            <a:endParaRPr kumimoji="1" lang="en-US" altLang="ja-JP" sz="2400" dirty="0"/>
          </a:p>
          <a:p>
            <a:r>
              <a:rPr lang="ja-JP" altLang="en-US" sz="2400" dirty="0"/>
              <a:t>　　　　　</a:t>
            </a:r>
            <a:r>
              <a:rPr lang="en-US" altLang="ja-JP" sz="1800" dirty="0"/>
              <a:t>https://whyitsso.net/physics/solid_state_physics/pn.html</a:t>
            </a:r>
            <a:endParaRPr kumimoji="1" lang="ja-JP" altLang="en-US" sz="1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14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AFA5CE6-F315-AC89-EA02-D3481BF53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73" y="2677599"/>
            <a:ext cx="1528254" cy="1224002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9C77A6C-B0D4-0F32-ECCC-79D9298BE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73" y="3996490"/>
            <a:ext cx="1528255" cy="1142333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66A7461-A3AE-ED7A-8DE3-259332612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22834" y="5215550"/>
            <a:ext cx="1528254" cy="110950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9A72A44-0744-C714-D1E0-B2EF00386F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5293" y="3211407"/>
            <a:ext cx="961888" cy="51344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809D5B27-DF07-6311-566D-0F734C784C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5293" y="2893480"/>
            <a:ext cx="1528254" cy="272647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465941E-8149-039D-BEDB-978118C1BB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2850" y="3996490"/>
            <a:ext cx="794352" cy="43826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338B86AB-5FED-3F62-4944-6B2D6DD49EA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65293" y="3742506"/>
            <a:ext cx="1587744" cy="251902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D3D73A4-3A83-99C7-D8FA-E7129B7748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5485" y="4434754"/>
            <a:ext cx="1646942" cy="64586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BD11352C-828F-337D-0C3C-6E9BFBDB02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1485" y="5198572"/>
            <a:ext cx="1233940" cy="371953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88B9020B-745C-EC21-0043-5C439D71216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95404" y="5644881"/>
            <a:ext cx="1097914" cy="433535"/>
          </a:xfrm>
          <a:prstGeom prst="rect">
            <a:avLst/>
          </a:prstGeom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E8355CA-7DC7-ACD2-D76C-C9B2D4F8029D}"/>
              </a:ext>
            </a:extLst>
          </p:cNvPr>
          <p:cNvCxnSpPr>
            <a:cxnSpLocks/>
          </p:cNvCxnSpPr>
          <p:nvPr/>
        </p:nvCxnSpPr>
        <p:spPr>
          <a:xfrm flipH="1">
            <a:off x="2045500" y="5384548"/>
            <a:ext cx="1867480" cy="260333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4304C116-047C-AE9B-6D75-F0A166892482}"/>
              </a:ext>
            </a:extLst>
          </p:cNvPr>
          <p:cNvCxnSpPr>
            <a:cxnSpLocks/>
          </p:cNvCxnSpPr>
          <p:nvPr/>
        </p:nvCxnSpPr>
        <p:spPr>
          <a:xfrm flipH="1">
            <a:off x="2152193" y="5762372"/>
            <a:ext cx="1826655" cy="191046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図 31">
            <a:extLst>
              <a:ext uri="{FF2B5EF4-FFF2-40B4-BE49-F238E27FC236}">
                <a16:creationId xmlns:a16="http://schemas.microsoft.com/office/drawing/2014/main" id="{A02D4769-7834-03E4-16B3-FEDB6EE5AEB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70932" y="5422564"/>
            <a:ext cx="2007999" cy="156242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3628884A-8492-0B43-E4C7-AA311409738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70932" y="5622908"/>
            <a:ext cx="2631974" cy="286323"/>
          </a:xfrm>
          <a:prstGeom prst="rect">
            <a:avLst/>
          </a:prstGeom>
        </p:spPr>
      </p:pic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1D8BC021-EAE3-9D2A-6367-D1E6B11B9819}"/>
              </a:ext>
            </a:extLst>
          </p:cNvPr>
          <p:cNvSpPr/>
          <p:nvPr/>
        </p:nvSpPr>
        <p:spPr>
          <a:xfrm>
            <a:off x="5542052" y="5331808"/>
            <a:ext cx="2872079" cy="68718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0C67CD4-1165-B9F4-FE3A-8F79574BA5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1410" y="2076129"/>
            <a:ext cx="2328180" cy="56450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4862C47-4E00-3480-1034-37D9F134FE9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6069585" y="3035411"/>
            <a:ext cx="2760605" cy="1823218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870B7A9-9E49-82FD-E82D-03CF96ED0E8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88095" y="2677599"/>
            <a:ext cx="1690836" cy="193854"/>
          </a:xfrm>
          <a:prstGeom prst="rect">
            <a:avLst/>
          </a:prstGeom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554CEEA-5E5C-AA59-BBF8-A1F31BDE2C07}"/>
              </a:ext>
            </a:extLst>
          </p:cNvPr>
          <p:cNvSpPr/>
          <p:nvPr/>
        </p:nvSpPr>
        <p:spPr>
          <a:xfrm>
            <a:off x="5902036" y="2949223"/>
            <a:ext cx="3090824" cy="20384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7811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ja-JP" sz="2400" dirty="0"/>
              <a:t>PN</a:t>
            </a:r>
            <a:r>
              <a:rPr lang="ja-JP" altLang="en-US" sz="2400" dirty="0"/>
              <a:t>接合温度係数</a:t>
            </a:r>
            <a:endParaRPr kumimoji="1" lang="ja-JP" altLang="en-US" sz="2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15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4CB1E69-E60A-0938-5F45-110B6C72A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892" y="1566109"/>
            <a:ext cx="4175325" cy="35291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4FE71E87-B149-D7AB-F93D-294B1603A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15" y="5293914"/>
            <a:ext cx="4175326" cy="65390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F833CB8-3E39-12E8-DD5B-AE8C3A0D4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2274" y="2934971"/>
            <a:ext cx="1919426" cy="1302468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8DCB847-8D9E-582A-797A-8F0B0159FB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874" y="1504716"/>
            <a:ext cx="2242405" cy="1325057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5C0BF67-C78C-E260-4588-E134C94D32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0093" y="4342637"/>
            <a:ext cx="1486307" cy="177461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DEBF9E-B5D8-BE7A-3266-3E20D387EE6E}"/>
              </a:ext>
            </a:extLst>
          </p:cNvPr>
          <p:cNvSpPr/>
          <p:nvPr/>
        </p:nvSpPr>
        <p:spPr>
          <a:xfrm>
            <a:off x="5962493" y="5690440"/>
            <a:ext cx="869057" cy="257376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9625F512-3892-A38C-45EB-A19EF1BCC923}"/>
              </a:ext>
            </a:extLst>
          </p:cNvPr>
          <p:cNvCxnSpPr/>
          <p:nvPr/>
        </p:nvCxnSpPr>
        <p:spPr>
          <a:xfrm flipV="1">
            <a:off x="6567055" y="2934971"/>
            <a:ext cx="891728" cy="2755469"/>
          </a:xfrm>
          <a:prstGeom prst="straightConnector1">
            <a:avLst/>
          </a:prstGeom>
          <a:ln w="63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9482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739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kumimoji="1" lang="ja-JP" altLang="en-US" sz="3200" dirty="0"/>
              <a:t>シャントレギュレータ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28665"/>
            <a:ext cx="7886700" cy="1030930"/>
          </a:xfrm>
        </p:spPr>
        <p:txBody>
          <a:bodyPr>
            <a:normAutofit fontScale="55000" lnSpcReduction="20000"/>
          </a:bodyPr>
          <a:lstStyle/>
          <a:p>
            <a:r>
              <a:rPr kumimoji="1" lang="en-US" altLang="ja-JP" sz="2200" dirty="0">
                <a:solidFill>
                  <a:srgbClr val="FF0000"/>
                </a:solidFill>
              </a:rPr>
              <a:t>ADC</a:t>
            </a:r>
            <a:r>
              <a:rPr kumimoji="1" lang="ja-JP" altLang="en-US" sz="2200" dirty="0">
                <a:solidFill>
                  <a:srgbClr val="FF0000"/>
                </a:solidFill>
              </a:rPr>
              <a:t>などの基準電圧に多用される。</a:t>
            </a:r>
            <a:r>
              <a:rPr kumimoji="1" lang="en-US" altLang="ja-JP" sz="2200" dirty="0">
                <a:solidFill>
                  <a:srgbClr val="FF0000"/>
                </a:solidFill>
              </a:rPr>
              <a:t>(TL431</a:t>
            </a:r>
            <a:r>
              <a:rPr kumimoji="1" lang="ja-JP" altLang="en-US" sz="2200" dirty="0">
                <a:solidFill>
                  <a:srgbClr val="FF0000"/>
                </a:solidFill>
              </a:rPr>
              <a:t>等</a:t>
            </a:r>
            <a:r>
              <a:rPr kumimoji="1" lang="en-US" altLang="ja-JP" sz="2200" dirty="0">
                <a:solidFill>
                  <a:srgbClr val="FF0000"/>
                </a:solidFill>
              </a:rPr>
              <a:t>)</a:t>
            </a:r>
            <a:r>
              <a:rPr kumimoji="1" lang="ja-JP" altLang="en-US" sz="2200" dirty="0">
                <a:solidFill>
                  <a:srgbClr val="FF0000"/>
                </a:solidFill>
              </a:rPr>
              <a:t>。温特、バラ付きの少ない。</a:t>
            </a:r>
            <a:r>
              <a:rPr kumimoji="1" lang="en-US" altLang="ja-JP" sz="2200" dirty="0">
                <a:solidFill>
                  <a:srgbClr val="FF0000"/>
                </a:solidFill>
              </a:rPr>
              <a:t> </a:t>
            </a:r>
          </a:p>
          <a:p>
            <a:r>
              <a:rPr lang="ja-JP" altLang="en-US" sz="2200" dirty="0">
                <a:solidFill>
                  <a:srgbClr val="FF0000"/>
                </a:solidFill>
              </a:rPr>
              <a:t>温度補償は</a:t>
            </a:r>
            <a:r>
              <a:rPr lang="en-US" altLang="ja-JP" sz="2200" dirty="0">
                <a:solidFill>
                  <a:srgbClr val="FF0000"/>
                </a:solidFill>
              </a:rPr>
              <a:t>PN</a:t>
            </a:r>
            <a:r>
              <a:rPr lang="ja-JP" altLang="en-US" sz="2200" dirty="0">
                <a:solidFill>
                  <a:srgbClr val="FF0000"/>
                </a:solidFill>
              </a:rPr>
              <a:t>ジャンクションを使って、負の温度特性と正の温度特性を相殺さ</a:t>
            </a:r>
            <a:endParaRPr lang="en-US" altLang="ja-JP" sz="22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ja-JP" altLang="en-US" sz="2200" dirty="0">
                <a:solidFill>
                  <a:srgbClr val="FF0000"/>
                </a:solidFill>
              </a:rPr>
              <a:t>　せるテクニックを用いる。</a:t>
            </a:r>
            <a:r>
              <a:rPr lang="en-US" altLang="ja-JP" sz="2200" dirty="0">
                <a:solidFill>
                  <a:srgbClr val="FF0000"/>
                </a:solidFill>
              </a:rPr>
              <a:t>(</a:t>
            </a:r>
            <a:r>
              <a:rPr lang="ja-JP" altLang="en-US" sz="2200" dirty="0">
                <a:solidFill>
                  <a:srgbClr val="FF0000"/>
                </a:solidFill>
              </a:rPr>
              <a:t>温特を補正する回路</a:t>
            </a:r>
            <a:r>
              <a:rPr lang="en-US" altLang="ja-JP" sz="2200" dirty="0">
                <a:solidFill>
                  <a:srgbClr val="FF0000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2000" dirty="0"/>
              <a:t>参考</a:t>
            </a:r>
            <a:r>
              <a:rPr lang="en-US" altLang="ja-JP" sz="2000" dirty="0"/>
              <a:t>URL</a:t>
            </a:r>
            <a:r>
              <a:rPr lang="ja-JP" altLang="en-US" sz="2000" dirty="0"/>
              <a:t>　</a:t>
            </a:r>
            <a:r>
              <a:rPr lang="en-US" altLang="ja-JP" sz="2500" dirty="0"/>
              <a:t>https://www.nuhogachi.com/cmos-analog/bgr-principle/2/</a:t>
            </a:r>
            <a:endParaRPr kumimoji="1" lang="ja-JP" altLang="en-US" sz="25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A3DFE4-1C4D-3922-2B1A-402FB8410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16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012AB67-8067-14B3-BA2F-63FEAB679C21}"/>
              </a:ext>
            </a:extLst>
          </p:cNvPr>
          <p:cNvSpPr txBox="1"/>
          <p:nvPr/>
        </p:nvSpPr>
        <p:spPr>
          <a:xfrm>
            <a:off x="706122" y="6187074"/>
            <a:ext cx="22595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温特を補正する回路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EF22DB2C-470E-BD72-35F0-BB42616CF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689" y="4179904"/>
            <a:ext cx="2384330" cy="211258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7C5BCF7-F65C-6EC1-75EF-30D524B28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383" y="2527611"/>
            <a:ext cx="1437409" cy="1341304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C456E85-8D24-F0F2-F9F7-35C2DE06ACE9}"/>
              </a:ext>
            </a:extLst>
          </p:cNvPr>
          <p:cNvSpPr txBox="1"/>
          <p:nvPr/>
        </p:nvSpPr>
        <p:spPr>
          <a:xfrm>
            <a:off x="2965672" y="6292493"/>
            <a:ext cx="22699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 err="1">
                <a:solidFill>
                  <a:srgbClr val="FF0000"/>
                </a:solidFill>
              </a:rPr>
              <a:t>Vf</a:t>
            </a:r>
            <a:r>
              <a:rPr kumimoji="1" lang="ja-JP" altLang="en-US" sz="1000" dirty="0">
                <a:solidFill>
                  <a:srgbClr val="FF0000"/>
                </a:solidFill>
              </a:rPr>
              <a:t>は、負の温度特性（</a:t>
            </a:r>
            <a:r>
              <a:rPr kumimoji="1" lang="en-US" altLang="ja-JP" sz="1000" dirty="0">
                <a:solidFill>
                  <a:srgbClr val="FF0000"/>
                </a:solidFill>
              </a:rPr>
              <a:t>-3mV/</a:t>
            </a:r>
            <a:r>
              <a:rPr kumimoji="1" lang="ja-JP" altLang="en-US" sz="1000" dirty="0">
                <a:solidFill>
                  <a:srgbClr val="FF0000"/>
                </a:solidFill>
              </a:rPr>
              <a:t>℃）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DC32629-E031-7740-5B50-B71C67487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49" y="3153561"/>
            <a:ext cx="2666213" cy="2945689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53DC61D1-46FF-95DC-FE78-4BE9FA646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166" y="3194976"/>
            <a:ext cx="2269957" cy="2904276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913D10C-0957-C01F-C467-1AF84D21361A}"/>
              </a:ext>
            </a:extLst>
          </p:cNvPr>
          <p:cNvCxnSpPr>
            <a:cxnSpLocks/>
          </p:cNvCxnSpPr>
          <p:nvPr/>
        </p:nvCxnSpPr>
        <p:spPr>
          <a:xfrm flipH="1" flipV="1">
            <a:off x="2891023" y="5246801"/>
            <a:ext cx="403839" cy="1045690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66988E9B-72AC-5E56-E5FB-F421351BF752}"/>
              </a:ext>
            </a:extLst>
          </p:cNvPr>
          <p:cNvCxnSpPr>
            <a:cxnSpLocks/>
          </p:cNvCxnSpPr>
          <p:nvPr/>
        </p:nvCxnSpPr>
        <p:spPr>
          <a:xfrm flipH="1" flipV="1">
            <a:off x="2965672" y="3974995"/>
            <a:ext cx="1251148" cy="1794651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CF88C33-39D3-4BA8-944C-822B038E2D28}"/>
              </a:ext>
            </a:extLst>
          </p:cNvPr>
          <p:cNvSpPr txBox="1"/>
          <p:nvPr/>
        </p:nvSpPr>
        <p:spPr>
          <a:xfrm>
            <a:off x="3169787" y="5606224"/>
            <a:ext cx="17867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dirty="0">
                <a:solidFill>
                  <a:srgbClr val="FF0000"/>
                </a:solidFill>
              </a:rPr>
              <a:t>正の温度特性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D095C7F-2885-A6C5-4C79-BBA038626022}"/>
              </a:ext>
            </a:extLst>
          </p:cNvPr>
          <p:cNvSpPr txBox="1"/>
          <p:nvPr/>
        </p:nvSpPr>
        <p:spPr>
          <a:xfrm>
            <a:off x="6172197" y="2210780"/>
            <a:ext cx="225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シャントレギュレータ</a:t>
            </a:r>
          </a:p>
        </p:txBody>
      </p:sp>
    </p:spTree>
    <p:extLst>
      <p:ext uri="{BB962C8B-B14F-4D97-AF65-F5344CB8AC3E}">
        <p14:creationId xmlns:p14="http://schemas.microsoft.com/office/powerpoint/2010/main" val="1314249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3200" dirty="0"/>
              <a:t>ツェナーとアバランシェ動作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08301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en-US" altLang="ja-JP" sz="3200" dirty="0"/>
              <a:t>Bipolar</a:t>
            </a:r>
            <a:r>
              <a:rPr kumimoji="1" lang="ja-JP" altLang="en-US" sz="3200" dirty="0"/>
              <a:t>トランジスタ動作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413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en-US" altLang="ja-JP" sz="3200" dirty="0"/>
              <a:t>Bipolar-Tr</a:t>
            </a:r>
            <a:r>
              <a:rPr kumimoji="1" lang="ja-JP" altLang="en-US" sz="3200" dirty="0"/>
              <a:t>小信号モデル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線形動作範囲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1702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3200" dirty="0"/>
              <a:t>Bipolar</a:t>
            </a:r>
            <a:r>
              <a:rPr lang="ja-JP" altLang="en-US" sz="3200" dirty="0"/>
              <a:t>トランジスタ</a:t>
            </a:r>
            <a:r>
              <a:rPr kumimoji="1" lang="ja-JP" altLang="en-US" sz="3200" dirty="0"/>
              <a:t>の</a:t>
            </a:r>
            <a:r>
              <a:rPr lang="ja-JP" altLang="en-US" sz="3200" dirty="0"/>
              <a:t>デバイス構造</a:t>
            </a:r>
            <a:endParaRPr kumimoji="1" lang="ja-JP" altLang="en-US" sz="32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75917E45-DB26-95E8-A065-128F89E47F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350" y="1751649"/>
            <a:ext cx="5984767" cy="2942271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8153B5-CB0F-1C2C-83E8-D06F8289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209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738" y="372683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kumimoji="1" lang="en-US" altLang="ja-JP" sz="3200" dirty="0"/>
              <a:t>MOS</a:t>
            </a:r>
            <a:r>
              <a:rPr kumimoji="1" lang="ja-JP" altLang="en-US" sz="3200" dirty="0"/>
              <a:t>の論理回路</a:t>
            </a:r>
            <a:r>
              <a:rPr kumimoji="1" lang="en-US" altLang="ja-JP" sz="3200" dirty="0"/>
              <a:t>(inv</a:t>
            </a:r>
            <a:r>
              <a:rPr lang="ja-JP" altLang="en-US" sz="3200" dirty="0"/>
              <a:t>回路とレイアウト</a:t>
            </a:r>
            <a:r>
              <a:rPr kumimoji="1" lang="en-US" altLang="ja-JP" sz="3200" dirty="0"/>
              <a:t>)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21</a:t>
            </a:fld>
            <a:endParaRPr kumimoji="1" lang="ja-JP" altLang="en-US" dirty="0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F61EBCAE-DE37-7A16-B67B-0E1ABF56C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164" y="3830985"/>
            <a:ext cx="1769647" cy="1486356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98D65476-9A7D-B45A-9A73-DDB3434BF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164" y="2485191"/>
            <a:ext cx="1769647" cy="1128470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2D61888-83E0-9EF6-B737-1B256058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8164" y="2056045"/>
            <a:ext cx="1648055" cy="304843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CABFD61-B2E3-0F48-2BF8-371559431231}"/>
              </a:ext>
            </a:extLst>
          </p:cNvPr>
          <p:cNvSpPr txBox="1"/>
          <p:nvPr/>
        </p:nvSpPr>
        <p:spPr>
          <a:xfrm>
            <a:off x="4760925" y="2020471"/>
            <a:ext cx="2894340" cy="37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典型的なレイアウト</a:t>
            </a:r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959007F1-478C-C102-9414-6D9C70D2175A}"/>
              </a:ext>
            </a:extLst>
          </p:cNvPr>
          <p:cNvGrpSpPr/>
          <p:nvPr/>
        </p:nvGrpSpPr>
        <p:grpSpPr>
          <a:xfrm>
            <a:off x="4240116" y="2378863"/>
            <a:ext cx="3535633" cy="2938479"/>
            <a:chOff x="4240116" y="2378863"/>
            <a:chExt cx="3535633" cy="2938479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6A1AC76-566E-1AAC-06FF-0C84C02F3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40116" y="2378863"/>
              <a:ext cx="3535633" cy="2938478"/>
            </a:xfrm>
            <a:prstGeom prst="rect">
              <a:avLst/>
            </a:prstGeom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5B090046-CB98-B14E-0CC8-AAD13B45FA78}"/>
                </a:ext>
              </a:extLst>
            </p:cNvPr>
            <p:cNvSpPr/>
            <p:nvPr/>
          </p:nvSpPr>
          <p:spPr>
            <a:xfrm>
              <a:off x="7065818" y="4874282"/>
              <a:ext cx="709931" cy="44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55949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22</a:t>
            </a:fld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D03719-71DB-C12A-B2F0-10F1313E2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38" y="2137928"/>
            <a:ext cx="3029294" cy="330330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DD936736-24B3-3A3A-D92A-6921CE619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734" y="2137928"/>
            <a:ext cx="4724999" cy="3303300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5381C219-28C6-7DC1-CBE3-5FCC7E086010}"/>
              </a:ext>
            </a:extLst>
          </p:cNvPr>
          <p:cNvSpPr txBox="1">
            <a:spLocks/>
          </p:cNvSpPr>
          <p:nvPr/>
        </p:nvSpPr>
        <p:spPr>
          <a:xfrm>
            <a:off x="741033" y="560023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200" dirty="0"/>
              <a:t>MOS</a:t>
            </a:r>
            <a:r>
              <a:rPr lang="ja-JP" altLang="en-US" sz="3200" dirty="0"/>
              <a:t>の論理回路</a:t>
            </a:r>
            <a:r>
              <a:rPr lang="en-US" altLang="ja-JP" sz="3200" dirty="0"/>
              <a:t>(nor</a:t>
            </a:r>
            <a:r>
              <a:rPr lang="ja-JP" altLang="en-US" sz="3200" dirty="0"/>
              <a:t>回路とレイアウト</a:t>
            </a:r>
            <a:r>
              <a:rPr lang="en-US" altLang="ja-JP" sz="3200" dirty="0"/>
              <a:t>)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827180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23</a:t>
            </a:fld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5ED7E3-193E-DFE0-E79B-1E9162A7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037" y="2338600"/>
            <a:ext cx="2876393" cy="321917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E47BFAE-1A26-A31B-C7CB-334F7EA1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3198" y="2297056"/>
            <a:ext cx="1899507" cy="3260719"/>
          </a:xfrm>
          <a:prstGeom prst="rect">
            <a:avLst/>
          </a:prstGeom>
        </p:spPr>
      </p:pic>
      <p:sp>
        <p:nvSpPr>
          <p:cNvPr id="12" name="タイトル 1">
            <a:extLst>
              <a:ext uri="{FF2B5EF4-FFF2-40B4-BE49-F238E27FC236}">
                <a16:creationId xmlns:a16="http://schemas.microsoft.com/office/drawing/2014/main" id="{4391F2CE-6720-480D-BD67-956E9D6C0887}"/>
              </a:ext>
            </a:extLst>
          </p:cNvPr>
          <p:cNvSpPr txBox="1">
            <a:spLocks/>
          </p:cNvSpPr>
          <p:nvPr/>
        </p:nvSpPr>
        <p:spPr>
          <a:xfrm>
            <a:off x="899731" y="7253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200" dirty="0"/>
              <a:t>MOS</a:t>
            </a:r>
            <a:r>
              <a:rPr lang="ja-JP" altLang="en-US" sz="3200" dirty="0"/>
              <a:t>の論理回路</a:t>
            </a:r>
            <a:r>
              <a:rPr lang="en-US" altLang="ja-JP" sz="3200" dirty="0"/>
              <a:t>(</a:t>
            </a:r>
            <a:r>
              <a:rPr lang="en-US" altLang="ja-JP" sz="3200" dirty="0" err="1"/>
              <a:t>nand</a:t>
            </a:r>
            <a:r>
              <a:rPr lang="ja-JP" altLang="en-US" sz="3200" dirty="0"/>
              <a:t>回路とレイアウト</a:t>
            </a:r>
            <a:r>
              <a:rPr lang="en-US" altLang="ja-JP" sz="3200" dirty="0"/>
              <a:t>)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776197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en-US" altLang="ja-JP" sz="4000" dirty="0"/>
              <a:t>IO</a:t>
            </a:r>
            <a:r>
              <a:rPr kumimoji="1" lang="ja-JP" altLang="en-US" sz="4000" dirty="0"/>
              <a:t>周辺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550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4000" dirty="0"/>
              <a:t>標準ロジックの</a:t>
            </a:r>
            <a:r>
              <a:rPr kumimoji="1" lang="en-US" altLang="ja-JP" sz="4000" dirty="0"/>
              <a:t>IO</a:t>
            </a:r>
            <a:r>
              <a:rPr kumimoji="1" lang="ja-JP" altLang="en-US" sz="4000" dirty="0"/>
              <a:t>トレラント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A3DFE4-1C4D-3922-2B1A-402FB8410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069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ja-JP" sz="4000" dirty="0"/>
              <a:t>CCD</a:t>
            </a:r>
            <a:r>
              <a:rPr lang="ja-JP" altLang="en-US" sz="4000" dirty="0"/>
              <a:t>、</a:t>
            </a:r>
            <a:r>
              <a:rPr lang="en-US" altLang="ja-JP" sz="4000" dirty="0"/>
              <a:t>MOS</a:t>
            </a:r>
            <a:r>
              <a:rPr lang="ja-JP" altLang="en-US" sz="4000" dirty="0"/>
              <a:t>センサの動作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3EFACE-E617-F542-DF66-FACA86824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603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1735</TotalTime>
  <Words>499</Words>
  <Application>Microsoft Office PowerPoint</Application>
  <PresentationFormat>画面に合わせる (4:3)</PresentationFormat>
  <Paragraphs>86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2" baseType="lpstr">
      <vt:lpstr>游ゴシック</vt:lpstr>
      <vt:lpstr>Aptos</vt:lpstr>
      <vt:lpstr>Aptos Display</vt:lpstr>
      <vt:lpstr>Arial</vt:lpstr>
      <vt:lpstr>Calibri</vt:lpstr>
      <vt:lpstr>Office テーマ</vt:lpstr>
      <vt:lpstr>MOS-TrとICの基本&amp;Tips (Part 1)</vt:lpstr>
      <vt:lpstr>PowerPoint プレゼンテーション</vt:lpstr>
      <vt:lpstr>MOS-Trのディスクリート＆ICのデバイス構造</vt:lpstr>
      <vt:lpstr>N型半導体とp型半導体</vt:lpstr>
      <vt:lpstr>MOSトランジスタの動作</vt:lpstr>
      <vt:lpstr>MOSトランジスタの動作</vt:lpstr>
      <vt:lpstr>線形領域と飽和領域</vt:lpstr>
      <vt:lpstr>MOS-Tr 横型とトレンチ構造</vt:lpstr>
      <vt:lpstr>狭チャネル</vt:lpstr>
      <vt:lpstr>ドレイン電流</vt:lpstr>
      <vt:lpstr>MOSトランジスタの小信号モデル</vt:lpstr>
      <vt:lpstr>スイッチ特性</vt:lpstr>
      <vt:lpstr>MOSFETの閾値電圧と基板バイアス効果</vt:lpstr>
      <vt:lpstr>PN接合のVf</vt:lpstr>
      <vt:lpstr>PN接合温度係数</vt:lpstr>
      <vt:lpstr>シャントレギュレータ</vt:lpstr>
      <vt:lpstr>ツェナーとアバランシェ動作</vt:lpstr>
      <vt:lpstr>Bipolarトランジスタ動作</vt:lpstr>
      <vt:lpstr>Bipolar-Tr小信号モデル</vt:lpstr>
      <vt:lpstr>Bipolarトランジスタのデバイス構造</vt:lpstr>
      <vt:lpstr>MOSの論理回路(inv回路とレイアウト)</vt:lpstr>
      <vt:lpstr>PowerPoint プレゼンテーション</vt:lpstr>
      <vt:lpstr>PowerPoint プレゼンテーション</vt:lpstr>
      <vt:lpstr>IO周辺</vt:lpstr>
      <vt:lpstr>標準ロジックのIOトレラント</vt:lpstr>
      <vt:lpstr>CCD、MOSセンサの動作</vt:lpstr>
    </vt:vector>
  </TitlesOfParts>
  <Company>DENSO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Hiroya Ito (伊藤 浩也)</dc:creator>
  <cp:lastModifiedBy>Hiroya Ito (伊藤 浩也)</cp:lastModifiedBy>
  <cp:revision>72</cp:revision>
  <dcterms:created xsi:type="dcterms:W3CDTF">2025-11-24T09:23:12Z</dcterms:created>
  <dcterms:modified xsi:type="dcterms:W3CDTF">2025-11-28T10:48:19Z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d1414a-99f2-46f9-bbe5-740af8d1b502_Enabled">
    <vt:lpwstr>true</vt:lpwstr>
  </property>
  <property fmtid="{D5CDD505-2E9C-101B-9397-08002B2CF9AE}" pid="3" name="MSIP_Label_7ed1414a-99f2-46f9-bbe5-740af8d1b502_SetDate">
    <vt:lpwstr>2025-11-24T09:25:03Z</vt:lpwstr>
  </property>
  <property fmtid="{D5CDD505-2E9C-101B-9397-08002B2CF9AE}" pid="4" name="MSIP_Label_7ed1414a-99f2-46f9-bbe5-740af8d1b502_Method">
    <vt:lpwstr>Standard</vt:lpwstr>
  </property>
  <property fmtid="{D5CDD505-2E9C-101B-9397-08002B2CF9AE}" pid="5" name="MSIP_Label_7ed1414a-99f2-46f9-bbe5-740af8d1b502_Name">
    <vt:lpwstr>G_MIP_Confidential_Standard</vt:lpwstr>
  </property>
  <property fmtid="{D5CDD505-2E9C-101B-9397-08002B2CF9AE}" pid="6" name="MSIP_Label_7ed1414a-99f2-46f9-bbe5-740af8d1b502_SiteId">
    <vt:lpwstr>69405920-b673-4f7c-8845-e124e9d08af2</vt:lpwstr>
  </property>
  <property fmtid="{D5CDD505-2E9C-101B-9397-08002B2CF9AE}" pid="7" name="MSIP_Label_7ed1414a-99f2-46f9-bbe5-740af8d1b502_ActionId">
    <vt:lpwstr>8ebecd3b-8abe-448d-b267-bbc7853f4932</vt:lpwstr>
  </property>
  <property fmtid="{D5CDD505-2E9C-101B-9397-08002B2CF9AE}" pid="8" name="MSIP_Label_7ed1414a-99f2-46f9-bbe5-740af8d1b502_ContentBits">
    <vt:lpwstr>1</vt:lpwstr>
  </property>
  <property fmtid="{D5CDD505-2E9C-101B-9397-08002B2CF9AE}" pid="9" name="ClassificationContentMarkingHeaderLocations">
    <vt:lpwstr>Office テーマ:8</vt:lpwstr>
  </property>
  <property fmtid="{D5CDD505-2E9C-101B-9397-08002B2CF9AE}" pid="10" name="ClassificationContentMarkingHeaderText">
    <vt:lpwstr>CONFIDENTIAL</vt:lpwstr>
  </property>
</Properties>
</file>