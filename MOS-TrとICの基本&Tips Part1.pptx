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9" r:id="rId4"/>
    <p:sldId id="262" r:id="rId5"/>
    <p:sldId id="263" r:id="rId6"/>
    <p:sldId id="267" r:id="rId7"/>
    <p:sldId id="258" r:id="rId8"/>
    <p:sldId id="266" r:id="rId9"/>
    <p:sldId id="265" r:id="rId10"/>
    <p:sldId id="260" r:id="rId11"/>
    <p:sldId id="261" r:id="rId12"/>
    <p:sldId id="264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57" autoAdjust="0"/>
    <p:restoredTop sz="94660"/>
  </p:normalViewPr>
  <p:slideViewPr>
    <p:cSldViewPr snapToGrid="0">
      <p:cViewPr>
        <p:scale>
          <a:sx n="300" d="100"/>
          <a:sy n="300" d="100"/>
        </p:scale>
        <p:origin x="-7224" y="-3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BC1FEF-5815-4FA7-B088-7F134D575880}" type="datetimeFigureOut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3485EB-564B-4F78-A639-EF90F2DDEAA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0019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3FD43-04ED-4922-A50A-6E0E6A9460FC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8904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5361-5D3E-4DE8-94AD-76EF6A01530A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651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8AA6C-EEF7-4A39-AE70-F268EE429606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0456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8906B-DA29-4AA8-8BA8-632327AA2979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962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26FF7-7225-4831-B44F-F92426AE6246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1747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EC860-4162-42FD-87EE-A80E837454D4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6023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F43D2-5878-4E6F-9868-0D0CACD9574F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069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BCA-E6B1-4D0A-A3A4-0173B0C5BB8E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324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48F53-4FB2-4812-888A-5F80D9C3DB5E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3910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9F5A1-AD4C-4385-876F-1A474FE80D06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0398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66BA3-E7E5-4575-873C-7041B36E8166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9544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FD6124-611E-4166-817E-4F498A1E7EF8}" type="datetime1">
              <a:rPr kumimoji="1" lang="ja-JP" altLang="en-US" smtClean="0"/>
              <a:t>2025/11/25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0238C6-DFEE-4049-817C-214F39B6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748EE54-420E-6C2A-3CDA-FE20AC85E99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187825" y="63500"/>
            <a:ext cx="7969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10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825386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D78E2D-AF2A-E32C-5B36-2D8D562DCB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1258100"/>
          </a:xfrm>
        </p:spPr>
        <p:txBody>
          <a:bodyPr>
            <a:normAutofit/>
          </a:bodyPr>
          <a:lstStyle/>
          <a:p>
            <a:r>
              <a:rPr lang="en-US" altLang="ja-JP" sz="4000" dirty="0"/>
              <a:t>MOS-Tr</a:t>
            </a:r>
            <a:r>
              <a:rPr lang="ja-JP" altLang="en-US" sz="4000" dirty="0"/>
              <a:t>と</a:t>
            </a:r>
            <a:r>
              <a:rPr lang="en-US" altLang="ja-JP" sz="4000" dirty="0"/>
              <a:t>IC</a:t>
            </a:r>
            <a:r>
              <a:rPr lang="ja-JP" altLang="en-US" sz="4000" dirty="0"/>
              <a:t>の基本</a:t>
            </a:r>
            <a:r>
              <a:rPr lang="en-US" altLang="ja-JP" sz="4000" dirty="0"/>
              <a:t>&amp;Tips</a:t>
            </a:r>
            <a:br>
              <a:rPr lang="en-US" altLang="ja-JP" sz="4000" dirty="0"/>
            </a:br>
            <a:r>
              <a:rPr lang="en-US" altLang="ja-JP" sz="4000" dirty="0"/>
              <a:t>(Part 1)</a:t>
            </a:r>
            <a:endParaRPr kumimoji="1" lang="ja-JP" altLang="en-US" sz="40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822D32D-81CC-C695-B754-4F61EEEAA3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8901" y="4428418"/>
            <a:ext cx="2726197" cy="716028"/>
          </a:xfrm>
        </p:spPr>
        <p:txBody>
          <a:bodyPr>
            <a:normAutofit fontScale="92500" lnSpcReduction="20000"/>
          </a:bodyPr>
          <a:lstStyle/>
          <a:p>
            <a:r>
              <a:rPr lang="en-US" altLang="ja-JP" dirty="0"/>
              <a:t>2025.12.04</a:t>
            </a:r>
          </a:p>
          <a:p>
            <a:r>
              <a:rPr lang="ja-JP" altLang="en-US" dirty="0"/>
              <a:t>開発３課　伊藤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DF14C81-1FAB-C212-BEF9-4B870D242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435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BF70A8-5848-CB3C-A8BC-73382703F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ja-JP" sz="3200" dirty="0"/>
              <a:t>Index</a:t>
            </a:r>
          </a:p>
          <a:p>
            <a:pPr marL="0" indent="0">
              <a:buNone/>
            </a:pPr>
            <a:r>
              <a:rPr kumimoji="1" lang="en-US" altLang="ja-JP" sz="2400" dirty="0"/>
              <a:t>(1) CMOS &amp; Bipolar</a:t>
            </a:r>
            <a:r>
              <a:rPr kumimoji="1" lang="ja-JP" altLang="en-US" sz="2400" dirty="0"/>
              <a:t>の</a:t>
            </a:r>
            <a:r>
              <a:rPr lang="ja-JP" altLang="en-US" sz="2400" dirty="0"/>
              <a:t>デバイス構造。</a:t>
            </a:r>
            <a:endParaRPr kumimoji="1" lang="ja-JP" altLang="en-US" sz="2400" dirty="0"/>
          </a:p>
          <a:p>
            <a:pPr marL="0" indent="0">
              <a:buNone/>
            </a:pPr>
            <a:r>
              <a:rPr kumimoji="1" lang="en-US" altLang="ja-JP" sz="2400" dirty="0"/>
              <a:t>(2) MOS</a:t>
            </a:r>
            <a:r>
              <a:rPr kumimoji="1" lang="ja-JP" altLang="en-US" sz="2400" dirty="0"/>
              <a:t>トランジスタの動作原理、（空乏層、強反転、</a:t>
            </a:r>
            <a:endParaRPr kumimoji="1" lang="en-US" altLang="ja-JP" sz="2400" dirty="0"/>
          </a:p>
          <a:p>
            <a:pPr marL="0" indent="0">
              <a:buNone/>
            </a:pPr>
            <a:r>
              <a:rPr lang="en-US" altLang="ja-JP" sz="2400" dirty="0"/>
              <a:t>    </a:t>
            </a:r>
            <a:r>
              <a:rPr kumimoji="1" lang="ja-JP" altLang="en-US" sz="2400" dirty="0"/>
              <a:t>  ピンチオフ）、温度特性式</a:t>
            </a:r>
            <a:r>
              <a:rPr lang="ja-JP" altLang="en-US" sz="2400" dirty="0"/>
              <a:t>。</a:t>
            </a:r>
            <a:br>
              <a:rPr lang="en-US" altLang="ja-JP" sz="2400" dirty="0"/>
            </a:br>
            <a:r>
              <a:rPr lang="ja-JP" altLang="en-US" sz="2400" dirty="0"/>
              <a:t>　  対比として、</a:t>
            </a:r>
            <a:r>
              <a:rPr lang="en-US" altLang="ja-JP" sz="2400" dirty="0"/>
              <a:t>CCD</a:t>
            </a:r>
            <a:r>
              <a:rPr lang="ja-JP" altLang="en-US" sz="2400" dirty="0"/>
              <a:t>、</a:t>
            </a:r>
            <a:r>
              <a:rPr lang="en-US" altLang="ja-JP" sz="2400" dirty="0"/>
              <a:t>MOS</a:t>
            </a:r>
            <a:r>
              <a:rPr lang="ja-JP" altLang="en-US" sz="2400" dirty="0"/>
              <a:t>センサの動作</a:t>
            </a:r>
            <a:endParaRPr lang="en-US" altLang="ja-JP" sz="2400" dirty="0"/>
          </a:p>
          <a:p>
            <a:pPr marL="0" indent="0">
              <a:buNone/>
            </a:pPr>
            <a:r>
              <a:rPr kumimoji="1" lang="en-US" altLang="ja-JP" sz="2400" dirty="0"/>
              <a:t>(3) MOS</a:t>
            </a:r>
            <a:r>
              <a:rPr kumimoji="1" lang="ja-JP" altLang="en-US" sz="2400" dirty="0"/>
              <a:t>の論理回路</a:t>
            </a:r>
            <a:r>
              <a:rPr kumimoji="1" lang="en-US" altLang="ja-JP" sz="2400" dirty="0"/>
              <a:t>(</a:t>
            </a:r>
            <a:r>
              <a:rPr kumimoji="1" lang="en-US" altLang="ja-JP" sz="2400" dirty="0" err="1"/>
              <a:t>inv,nand,nor</a:t>
            </a:r>
            <a:r>
              <a:rPr kumimoji="1" lang="en-US" altLang="ja-JP" sz="2400" dirty="0"/>
              <a:t>)</a:t>
            </a:r>
            <a:r>
              <a:rPr lang="ja-JP" altLang="en-US" sz="2400" dirty="0"/>
              <a:t>、アナログ</a:t>
            </a:r>
            <a:r>
              <a:rPr lang="en-US" altLang="ja-JP" sz="2400" dirty="0"/>
              <a:t>SW</a:t>
            </a:r>
            <a:r>
              <a:rPr kumimoji="1" lang="ja-JP" altLang="en-US" sz="2400" dirty="0"/>
              <a:t>、</a:t>
            </a:r>
            <a:r>
              <a:rPr lang="ja-JP" altLang="en-US" sz="2400" dirty="0"/>
              <a:t>ショットキーダイオード、シャントレギュレータ、</a:t>
            </a:r>
            <a:r>
              <a:rPr kumimoji="1" lang="ja-JP" altLang="en-US" sz="2400" dirty="0"/>
              <a:t>レイアウト事例、</a:t>
            </a:r>
            <a:r>
              <a:rPr kumimoji="1" lang="en-US" altLang="ja-JP" sz="2400" dirty="0"/>
              <a:t>IO</a:t>
            </a:r>
            <a:r>
              <a:rPr kumimoji="1" lang="ja-JP" altLang="en-US" sz="2400" dirty="0"/>
              <a:t>周辺、標準ロジックの</a:t>
            </a:r>
            <a:r>
              <a:rPr kumimoji="1" lang="en-US" altLang="ja-JP" sz="2400" dirty="0"/>
              <a:t>IO</a:t>
            </a:r>
            <a:r>
              <a:rPr kumimoji="1" lang="ja-JP" altLang="en-US" sz="2400" dirty="0"/>
              <a:t>トレラント。</a:t>
            </a:r>
            <a:endParaRPr kumimoji="1" lang="en-US" altLang="ja-JP" sz="2400" dirty="0"/>
          </a:p>
          <a:p>
            <a:pPr marL="0" indent="0">
              <a:buNone/>
            </a:pPr>
            <a:endParaRPr kumimoji="1" lang="ja-JP" altLang="en-US" sz="2400" dirty="0"/>
          </a:p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EAADB4-9B02-A9DC-9385-326FAAA42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3209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en-US" altLang="ja-JP" sz="3200" dirty="0"/>
              <a:t>MOS</a:t>
            </a:r>
            <a:r>
              <a:rPr kumimoji="1" lang="ja-JP" altLang="en-US" sz="3200" dirty="0"/>
              <a:t>トランジスタの</a:t>
            </a:r>
            <a:r>
              <a:rPr lang="ja-JP" altLang="en-US" sz="3200" dirty="0"/>
              <a:t>デバイス構造</a:t>
            </a:r>
            <a:endParaRPr kumimoji="1" lang="ja-JP" altLang="en-US" sz="3200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535C7FD3-2E05-8944-1AE6-822190BFD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8961" y="2153470"/>
            <a:ext cx="2379387" cy="1555155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F8153B5-CB0F-1C2C-83E8-D06F8289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C78D4A-105C-1079-449E-0E4E01456E05}"/>
              </a:ext>
            </a:extLst>
          </p:cNvPr>
          <p:cNvSpPr txBox="1"/>
          <p:nvPr/>
        </p:nvSpPr>
        <p:spPr>
          <a:xfrm>
            <a:off x="1058959" y="1507139"/>
            <a:ext cx="2379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東芝 ディスクリート</a:t>
            </a:r>
            <a:r>
              <a:rPr kumimoji="1" lang="en-US" altLang="ja-JP" dirty="0" err="1"/>
              <a:t>Nch</a:t>
            </a:r>
            <a:r>
              <a:rPr kumimoji="1" lang="en-US" altLang="ja-JP" dirty="0"/>
              <a:t>-MOS FET</a:t>
            </a:r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38FAE7D-2772-CCD5-5D6D-58B0C093A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958" y="4778524"/>
            <a:ext cx="2379387" cy="1577827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6D903D6-7BFB-E700-4A88-2A41E9FED115}"/>
              </a:ext>
            </a:extLst>
          </p:cNvPr>
          <p:cNvSpPr txBox="1"/>
          <p:nvPr/>
        </p:nvSpPr>
        <p:spPr>
          <a:xfrm>
            <a:off x="1058958" y="4116638"/>
            <a:ext cx="2379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東芝 ディスクリート</a:t>
            </a:r>
            <a:r>
              <a:rPr kumimoji="1" lang="en-US" altLang="ja-JP" dirty="0" err="1"/>
              <a:t>Pch</a:t>
            </a:r>
            <a:r>
              <a:rPr kumimoji="1" lang="en-US" altLang="ja-JP" dirty="0"/>
              <a:t>-MOS FET</a:t>
            </a:r>
            <a:endParaRPr kumimoji="1" lang="ja-JP" altLang="en-US" dirty="0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27E1CA56-C391-064D-8372-E3BCDB8EF7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872" y="3689017"/>
            <a:ext cx="4227286" cy="2079454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1A32821-2E8A-881F-0897-AF13ABF4B811}"/>
              </a:ext>
            </a:extLst>
          </p:cNvPr>
          <p:cNvSpPr txBox="1"/>
          <p:nvPr/>
        </p:nvSpPr>
        <p:spPr>
          <a:xfrm>
            <a:off x="4855624" y="3283416"/>
            <a:ext cx="280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東芝 </a:t>
            </a:r>
            <a:r>
              <a:rPr kumimoji="1" lang="en-US" altLang="ja-JP" dirty="0"/>
              <a:t>CMOS Tr (inverter)</a:t>
            </a:r>
            <a:endParaRPr kumimoji="1" lang="ja-JP" altLang="en-US" dirty="0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B356BF06-4EFE-D583-A704-66016C143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1230" y="1923394"/>
            <a:ext cx="1367970" cy="1243011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73F6F009-D9BF-4132-BC8A-AAF4228B09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6353" y="2034432"/>
            <a:ext cx="1114581" cy="1005028"/>
          </a:xfrm>
          <a:prstGeom prst="rect">
            <a:avLst/>
          </a:prstGeom>
        </p:spPr>
      </p:pic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B7546A48-3E44-B759-E7FD-13A0D6494D29}"/>
              </a:ext>
            </a:extLst>
          </p:cNvPr>
          <p:cNvSpPr/>
          <p:nvPr/>
        </p:nvSpPr>
        <p:spPr>
          <a:xfrm>
            <a:off x="628650" y="1431608"/>
            <a:ext cx="3196590" cy="242594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538CF066-87EE-C3C1-6867-88A5E7EAFE93}"/>
              </a:ext>
            </a:extLst>
          </p:cNvPr>
          <p:cNvSpPr/>
          <p:nvPr/>
        </p:nvSpPr>
        <p:spPr>
          <a:xfrm>
            <a:off x="650356" y="4041712"/>
            <a:ext cx="3196590" cy="242594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3CFC537-1AE2-BE02-79F4-D6AB073E8199}"/>
              </a:ext>
            </a:extLst>
          </p:cNvPr>
          <p:cNvSpPr/>
          <p:nvPr/>
        </p:nvSpPr>
        <p:spPr>
          <a:xfrm>
            <a:off x="4082415" y="1700461"/>
            <a:ext cx="4751070" cy="431419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0408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ja-JP" altLang="en-US" sz="4000" dirty="0"/>
              <a:t>空乏層、強反転</a:t>
            </a:r>
            <a:r>
              <a:rPr lang="ja-JP" altLang="en-US" sz="4000" dirty="0"/>
              <a:t>、</a:t>
            </a:r>
            <a:r>
              <a:rPr kumimoji="1" lang="ja-JP" altLang="en-US" sz="4000" dirty="0"/>
              <a:t>ピンチオフ</a:t>
            </a:r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BD0C6B17-FE9E-D568-273D-6B5B82F6D0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4753" y="1883093"/>
            <a:ext cx="4956767" cy="3925888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A70BF7C-EA92-D886-1FE5-A89B0BE3E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187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ja-JP" altLang="en-US" sz="4000" dirty="0"/>
              <a:t>温度特性式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E741B-FE9D-0BB2-5AC8-CC52BAE19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7553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kumimoji="1" lang="en-US" altLang="ja-JP" sz="3200" dirty="0"/>
              <a:t>Bipolar</a:t>
            </a:r>
            <a:r>
              <a:rPr lang="ja-JP" altLang="en-US" sz="3200" dirty="0"/>
              <a:t>トランジスタ</a:t>
            </a:r>
            <a:r>
              <a:rPr kumimoji="1" lang="ja-JP" altLang="en-US" sz="3200" dirty="0"/>
              <a:t>の</a:t>
            </a:r>
            <a:r>
              <a:rPr lang="ja-JP" altLang="en-US" sz="3200" dirty="0"/>
              <a:t>デバイス構造</a:t>
            </a:r>
            <a:endParaRPr kumimoji="1" lang="ja-JP" altLang="en-US" sz="3200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75917E45-DB26-95E8-A065-128F89E47F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350" y="1751649"/>
            <a:ext cx="5984767" cy="2942271"/>
          </a:xfr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F8153B5-CB0F-1C2C-83E8-D06F8289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9209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738" y="372683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kumimoji="1" lang="en-US" altLang="ja-JP" sz="3200" dirty="0"/>
              <a:t>MOS</a:t>
            </a:r>
            <a:r>
              <a:rPr kumimoji="1" lang="ja-JP" altLang="en-US" sz="3200" dirty="0"/>
              <a:t>の論理回路</a:t>
            </a:r>
            <a:r>
              <a:rPr kumimoji="1" lang="en-US" altLang="ja-JP" sz="3200" dirty="0"/>
              <a:t>(inv</a:t>
            </a:r>
            <a:r>
              <a:rPr lang="ja-JP" altLang="en-US" sz="3200" dirty="0"/>
              <a:t>回路とレイアウト</a:t>
            </a:r>
            <a:r>
              <a:rPr kumimoji="1" lang="en-US" altLang="ja-JP" sz="3200" dirty="0"/>
              <a:t>)</a:t>
            </a:r>
            <a:endParaRPr kumimoji="1" lang="ja-JP" altLang="en-US" sz="32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A84C90-CE54-7B4B-365A-2E11AF02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7</a:t>
            </a:fld>
            <a:endParaRPr kumimoji="1" lang="ja-JP" altLang="en-US" dirty="0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F61EBCAE-DE37-7A16-B67B-0E1ABF56C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164" y="3830985"/>
            <a:ext cx="1769647" cy="1486356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98D65476-9A7D-B45A-9A73-DDB3434BF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164" y="2485191"/>
            <a:ext cx="1769647" cy="1128470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A2D61888-83E0-9EF6-B737-1B256058C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8164" y="2056045"/>
            <a:ext cx="1648055" cy="304843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CABFD61-B2E3-0F48-2BF8-371559431231}"/>
              </a:ext>
            </a:extLst>
          </p:cNvPr>
          <p:cNvSpPr txBox="1"/>
          <p:nvPr/>
        </p:nvSpPr>
        <p:spPr>
          <a:xfrm>
            <a:off x="4760925" y="2020471"/>
            <a:ext cx="2894340" cy="37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典型的なレイアウト</a:t>
            </a:r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959007F1-478C-C102-9414-6D9C70D2175A}"/>
              </a:ext>
            </a:extLst>
          </p:cNvPr>
          <p:cNvGrpSpPr/>
          <p:nvPr/>
        </p:nvGrpSpPr>
        <p:grpSpPr>
          <a:xfrm>
            <a:off x="4240116" y="2378863"/>
            <a:ext cx="3535633" cy="2938479"/>
            <a:chOff x="4240116" y="2378863"/>
            <a:chExt cx="3535633" cy="2938479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16A1AC76-566E-1AAC-06FF-0C84C02F3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40116" y="2378863"/>
              <a:ext cx="3535633" cy="2938478"/>
            </a:xfrm>
            <a:prstGeom prst="rect">
              <a:avLst/>
            </a:prstGeom>
          </p:spPr>
        </p:pic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5B090046-CB98-B14E-0CC8-AAD13B45FA78}"/>
                </a:ext>
              </a:extLst>
            </p:cNvPr>
            <p:cNvSpPr/>
            <p:nvPr/>
          </p:nvSpPr>
          <p:spPr>
            <a:xfrm>
              <a:off x="7065818" y="4874282"/>
              <a:ext cx="709931" cy="443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5594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A84C90-CE54-7B4B-365A-2E11AF02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8</a:t>
            </a:fld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BD03719-71DB-C12A-B2F0-10F1313E2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738" y="2137928"/>
            <a:ext cx="3029294" cy="3303301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DD936736-24B3-3A3A-D92A-6921CE619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2734" y="2137928"/>
            <a:ext cx="4724999" cy="3303300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5381C219-28C6-7DC1-CBE3-5FCC7E086010}"/>
              </a:ext>
            </a:extLst>
          </p:cNvPr>
          <p:cNvSpPr txBox="1">
            <a:spLocks/>
          </p:cNvSpPr>
          <p:nvPr/>
        </p:nvSpPr>
        <p:spPr>
          <a:xfrm>
            <a:off x="741033" y="560023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3200" dirty="0"/>
              <a:t>MOS</a:t>
            </a:r>
            <a:r>
              <a:rPr lang="ja-JP" altLang="en-US" sz="3200" dirty="0"/>
              <a:t>の論理回路</a:t>
            </a:r>
            <a:r>
              <a:rPr lang="en-US" altLang="ja-JP" sz="3200" dirty="0"/>
              <a:t>(nor</a:t>
            </a:r>
            <a:r>
              <a:rPr lang="ja-JP" altLang="en-US" sz="3200" dirty="0"/>
              <a:t>回路とレイアウト</a:t>
            </a:r>
            <a:r>
              <a:rPr lang="en-US" altLang="ja-JP" sz="3200" dirty="0"/>
              <a:t>)</a:t>
            </a:r>
            <a:endParaRPr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827180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A84C90-CE54-7B4B-365A-2E11AF02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9</a:t>
            </a:fld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5ED7E3-193E-DFE0-E79B-1E9162A76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037" y="2338600"/>
            <a:ext cx="2876393" cy="321917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E47BFAE-1A26-A31B-C7CB-334F7EA1C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3198" y="2297056"/>
            <a:ext cx="1899507" cy="3260719"/>
          </a:xfrm>
          <a:prstGeom prst="rect">
            <a:avLst/>
          </a:prstGeom>
        </p:spPr>
      </p:pic>
      <p:sp>
        <p:nvSpPr>
          <p:cNvPr id="12" name="タイトル 1">
            <a:extLst>
              <a:ext uri="{FF2B5EF4-FFF2-40B4-BE49-F238E27FC236}">
                <a16:creationId xmlns:a16="http://schemas.microsoft.com/office/drawing/2014/main" id="{4391F2CE-6720-480D-BD67-956E9D6C0887}"/>
              </a:ext>
            </a:extLst>
          </p:cNvPr>
          <p:cNvSpPr txBox="1">
            <a:spLocks/>
          </p:cNvSpPr>
          <p:nvPr/>
        </p:nvSpPr>
        <p:spPr>
          <a:xfrm>
            <a:off x="899731" y="7253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3200" dirty="0"/>
              <a:t>MOS</a:t>
            </a:r>
            <a:r>
              <a:rPr lang="ja-JP" altLang="en-US" sz="3200" dirty="0"/>
              <a:t>の論理回路</a:t>
            </a:r>
            <a:r>
              <a:rPr lang="en-US" altLang="ja-JP" sz="3200" dirty="0"/>
              <a:t>(</a:t>
            </a:r>
            <a:r>
              <a:rPr lang="en-US" altLang="ja-JP" sz="3200" dirty="0" err="1"/>
              <a:t>nand</a:t>
            </a:r>
            <a:r>
              <a:rPr lang="ja-JP" altLang="en-US" sz="3200" dirty="0"/>
              <a:t>回路とレイアウト</a:t>
            </a:r>
            <a:r>
              <a:rPr lang="en-US" altLang="ja-JP" sz="3200" dirty="0"/>
              <a:t>)</a:t>
            </a:r>
            <a:endParaRPr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776197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en-US" altLang="ja-JP" sz="4000" dirty="0"/>
              <a:t>IO</a:t>
            </a:r>
            <a:r>
              <a:rPr kumimoji="1" lang="ja-JP" altLang="en-US" sz="4000" dirty="0"/>
              <a:t>周辺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8C5A10-4C1E-36F7-3EF4-DB3535468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5509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ja-JP" altLang="en-US" sz="4000" dirty="0"/>
              <a:t>標準ロジックの</a:t>
            </a:r>
            <a:r>
              <a:rPr kumimoji="1" lang="en-US" altLang="ja-JP" sz="4000" dirty="0"/>
              <a:t>IO</a:t>
            </a:r>
            <a:r>
              <a:rPr kumimoji="1" lang="ja-JP" altLang="en-US" sz="4000" dirty="0"/>
              <a:t>トレラント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A3DFE4-1C4D-3922-2B1A-402FB8410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069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220D37-4FB0-39E6-6E6A-C9C381C3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altLang="ja-JP" sz="4000" dirty="0"/>
              <a:t>CCD</a:t>
            </a:r>
            <a:r>
              <a:rPr lang="ja-JP" altLang="en-US" sz="4000" dirty="0"/>
              <a:t>、</a:t>
            </a:r>
            <a:r>
              <a:rPr lang="en-US" altLang="ja-JP" sz="4000" dirty="0"/>
              <a:t>MOS</a:t>
            </a:r>
            <a:r>
              <a:rPr lang="ja-JP" altLang="en-US" sz="4000" dirty="0"/>
              <a:t>センサの動作</a:t>
            </a:r>
            <a:endParaRPr kumimoji="1" lang="ja-JP" altLang="en-US" sz="40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649F6E-CDB0-3A67-5D2F-1DB1FAEE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83EFACE-E617-F542-DF66-FACA86824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238C6-DFEE-4049-817C-214F39B6A44B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603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172</TotalTime>
  <Words>185</Words>
  <Application>Microsoft Office PowerPoint</Application>
  <PresentationFormat>画面に合わせる (4:3)</PresentationFormat>
  <Paragraphs>34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游ゴシック</vt:lpstr>
      <vt:lpstr>Aptos</vt:lpstr>
      <vt:lpstr>Aptos Display</vt:lpstr>
      <vt:lpstr>Arial</vt:lpstr>
      <vt:lpstr>Calibri</vt:lpstr>
      <vt:lpstr>Office テーマ</vt:lpstr>
      <vt:lpstr>MOS-TrとICの基本&amp;Tips (Part 1)</vt:lpstr>
      <vt:lpstr>PowerPoint プレゼンテーション</vt:lpstr>
      <vt:lpstr>MOSトランジスタのデバイス構造</vt:lpstr>
      <vt:lpstr>空乏層、強反転、ピンチオフ</vt:lpstr>
      <vt:lpstr>温度特性式</vt:lpstr>
      <vt:lpstr>Bipolarトランジスタのデバイス構造</vt:lpstr>
      <vt:lpstr>MOSの論理回路(inv回路とレイアウト)</vt:lpstr>
      <vt:lpstr>PowerPoint プレゼンテーション</vt:lpstr>
      <vt:lpstr>PowerPoint プレゼンテーション</vt:lpstr>
      <vt:lpstr>IO周辺</vt:lpstr>
      <vt:lpstr>標準ロジックのIOトレラント</vt:lpstr>
      <vt:lpstr>CCD、MOSセンサの動作</vt:lpstr>
    </vt:vector>
  </TitlesOfParts>
  <Company>DENSO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Hiroya Ito (伊藤 浩也)</dc:creator>
  <cp:lastModifiedBy>Hiroya Ito (伊藤 浩也)</cp:lastModifiedBy>
  <cp:revision>19</cp:revision>
  <dcterms:created xsi:type="dcterms:W3CDTF">2025-11-24T09:23:12Z</dcterms:created>
  <dcterms:modified xsi:type="dcterms:W3CDTF">2025-11-25T11:28:23Z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d1414a-99f2-46f9-bbe5-740af8d1b502_Enabled">
    <vt:lpwstr>true</vt:lpwstr>
  </property>
  <property fmtid="{D5CDD505-2E9C-101B-9397-08002B2CF9AE}" pid="3" name="MSIP_Label_7ed1414a-99f2-46f9-bbe5-740af8d1b502_SetDate">
    <vt:lpwstr>2025-11-24T09:25:03Z</vt:lpwstr>
  </property>
  <property fmtid="{D5CDD505-2E9C-101B-9397-08002B2CF9AE}" pid="4" name="MSIP_Label_7ed1414a-99f2-46f9-bbe5-740af8d1b502_Method">
    <vt:lpwstr>Standard</vt:lpwstr>
  </property>
  <property fmtid="{D5CDD505-2E9C-101B-9397-08002B2CF9AE}" pid="5" name="MSIP_Label_7ed1414a-99f2-46f9-bbe5-740af8d1b502_Name">
    <vt:lpwstr>G_MIP_Confidential_Standard</vt:lpwstr>
  </property>
  <property fmtid="{D5CDD505-2E9C-101B-9397-08002B2CF9AE}" pid="6" name="MSIP_Label_7ed1414a-99f2-46f9-bbe5-740af8d1b502_SiteId">
    <vt:lpwstr>69405920-b673-4f7c-8845-e124e9d08af2</vt:lpwstr>
  </property>
  <property fmtid="{D5CDD505-2E9C-101B-9397-08002B2CF9AE}" pid="7" name="MSIP_Label_7ed1414a-99f2-46f9-bbe5-740af8d1b502_ActionId">
    <vt:lpwstr>8ebecd3b-8abe-448d-b267-bbc7853f4932</vt:lpwstr>
  </property>
  <property fmtid="{D5CDD505-2E9C-101B-9397-08002B2CF9AE}" pid="8" name="MSIP_Label_7ed1414a-99f2-46f9-bbe5-740af8d1b502_ContentBits">
    <vt:lpwstr>1</vt:lpwstr>
  </property>
  <property fmtid="{D5CDD505-2E9C-101B-9397-08002B2CF9AE}" pid="9" name="ClassificationContentMarkingHeaderLocations">
    <vt:lpwstr>Office テーマ:8</vt:lpwstr>
  </property>
  <property fmtid="{D5CDD505-2E9C-101B-9397-08002B2CF9AE}" pid="10" name="ClassificationContentMarkingHeaderText">
    <vt:lpwstr>CONFIDENTIAL</vt:lpwstr>
  </property>
</Properties>
</file>