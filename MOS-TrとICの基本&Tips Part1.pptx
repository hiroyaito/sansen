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59" r:id="rId4"/>
    <p:sldId id="274" r:id="rId5"/>
    <p:sldId id="272" r:id="rId6"/>
    <p:sldId id="273" r:id="rId7"/>
    <p:sldId id="262" r:id="rId8"/>
    <p:sldId id="263" r:id="rId9"/>
    <p:sldId id="270" r:id="rId10"/>
    <p:sldId id="271" r:id="rId11"/>
    <p:sldId id="269" r:id="rId12"/>
    <p:sldId id="267" r:id="rId13"/>
    <p:sldId id="258" r:id="rId14"/>
    <p:sldId id="266" r:id="rId15"/>
    <p:sldId id="265" r:id="rId16"/>
    <p:sldId id="260" r:id="rId17"/>
    <p:sldId id="261" r:id="rId18"/>
    <p:sldId id="275" r:id="rId19"/>
    <p:sldId id="268" r:id="rId20"/>
    <p:sldId id="264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57" autoAdjust="0"/>
    <p:restoredTop sz="94660"/>
  </p:normalViewPr>
  <p:slideViewPr>
    <p:cSldViewPr snapToGrid="0">
      <p:cViewPr>
        <p:scale>
          <a:sx n="150" d="100"/>
          <a:sy n="150" d="100"/>
        </p:scale>
        <p:origin x="-354" y="-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BC1FEF-5815-4FA7-B088-7F134D575880}" type="datetimeFigureOut">
              <a:rPr kumimoji="1" lang="ja-JP" altLang="en-US" smtClean="0"/>
              <a:t>2025/11/28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3485EB-564B-4F78-A639-EF90F2DDEA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0019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3FD43-04ED-4922-A50A-6E0E6A9460FC}" type="datetime1">
              <a:rPr kumimoji="1" lang="ja-JP" altLang="en-US" smtClean="0"/>
              <a:t>2025/11/28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38C6-DFEE-4049-817C-214F39B6A4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8904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5361-5D3E-4DE8-94AD-76EF6A01530A}" type="datetime1">
              <a:rPr kumimoji="1" lang="ja-JP" altLang="en-US" smtClean="0"/>
              <a:t>2025/11/28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38C6-DFEE-4049-817C-214F39B6A4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6518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8AA6C-EEF7-4A39-AE70-F268EE429606}" type="datetime1">
              <a:rPr kumimoji="1" lang="ja-JP" altLang="en-US" smtClean="0"/>
              <a:t>2025/11/28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38C6-DFEE-4049-817C-214F39B6A4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0456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8906B-DA29-4AA8-8BA8-632327AA2979}" type="datetime1">
              <a:rPr kumimoji="1" lang="ja-JP" altLang="en-US" smtClean="0"/>
              <a:t>2025/11/28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38C6-DFEE-4049-817C-214F39B6A4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1962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26FF7-7225-4831-B44F-F92426AE6246}" type="datetime1">
              <a:rPr kumimoji="1" lang="ja-JP" altLang="en-US" smtClean="0"/>
              <a:t>2025/11/28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38C6-DFEE-4049-817C-214F39B6A4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1747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EC860-4162-42FD-87EE-A80E837454D4}" type="datetime1">
              <a:rPr kumimoji="1" lang="ja-JP" altLang="en-US" smtClean="0"/>
              <a:t>2025/11/28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38C6-DFEE-4049-817C-214F39B6A4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6023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F43D2-5878-4E6F-9868-0D0CACD9574F}" type="datetime1">
              <a:rPr kumimoji="1" lang="ja-JP" altLang="en-US" smtClean="0"/>
              <a:t>2025/11/28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38C6-DFEE-4049-817C-214F39B6A4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9069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1FBCA-E6B1-4D0A-A3A4-0173B0C5BB8E}" type="datetime1">
              <a:rPr kumimoji="1" lang="ja-JP" altLang="en-US" smtClean="0"/>
              <a:t>2025/11/28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38C6-DFEE-4049-817C-214F39B6A4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324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48F53-4FB2-4812-888A-5F80D9C3DB5E}" type="datetime1">
              <a:rPr kumimoji="1" lang="ja-JP" altLang="en-US" smtClean="0"/>
              <a:t>2025/11/28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38C6-DFEE-4049-817C-214F39B6A4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3910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9F5A1-AD4C-4385-876F-1A474FE80D06}" type="datetime1">
              <a:rPr kumimoji="1" lang="ja-JP" altLang="en-US" smtClean="0"/>
              <a:t>2025/11/28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38C6-DFEE-4049-817C-214F39B6A4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0398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66BA3-E7E5-4575-873C-7041B36E8166}" type="datetime1">
              <a:rPr kumimoji="1" lang="ja-JP" altLang="en-US" smtClean="0"/>
              <a:t>2025/11/28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38C6-DFEE-4049-817C-214F39B6A4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9544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FD6124-611E-4166-817E-4F498A1E7EF8}" type="datetime1">
              <a:rPr kumimoji="1" lang="ja-JP" altLang="en-US" smtClean="0"/>
              <a:t>2025/11/28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0238C6-DFEE-4049-817C-214F39B6A44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748EE54-420E-6C2A-3CDA-FE20AC85E99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187825" y="63500"/>
            <a:ext cx="7969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ja-JP" altLang="en-US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825386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3.png"/><Relationship Id="rId7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D78E2D-AF2A-E32C-5B36-2D8D562DC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1258100"/>
          </a:xfrm>
        </p:spPr>
        <p:txBody>
          <a:bodyPr>
            <a:normAutofit/>
          </a:bodyPr>
          <a:lstStyle/>
          <a:p>
            <a:r>
              <a:rPr lang="en-US" altLang="ja-JP" sz="4000" dirty="0"/>
              <a:t>MOS-Tr</a:t>
            </a:r>
            <a:r>
              <a:rPr lang="ja-JP" altLang="en-US" sz="4000" dirty="0"/>
              <a:t>と</a:t>
            </a:r>
            <a:r>
              <a:rPr lang="en-US" altLang="ja-JP" sz="4000" dirty="0"/>
              <a:t>IC</a:t>
            </a:r>
            <a:r>
              <a:rPr lang="ja-JP" altLang="en-US" sz="4000" dirty="0"/>
              <a:t>の基本</a:t>
            </a:r>
            <a:r>
              <a:rPr lang="en-US" altLang="ja-JP" sz="4000" dirty="0"/>
              <a:t>&amp;Tips</a:t>
            </a:r>
            <a:br>
              <a:rPr lang="en-US" altLang="ja-JP" sz="4000" dirty="0"/>
            </a:br>
            <a:r>
              <a:rPr lang="en-US" altLang="ja-JP" sz="4000" dirty="0"/>
              <a:t>(Part 1)</a:t>
            </a:r>
            <a:endParaRPr kumimoji="1" lang="ja-JP" altLang="en-US" sz="4000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822D32D-81CC-C695-B754-4F61EEEAA3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8901" y="4428418"/>
            <a:ext cx="2726197" cy="716028"/>
          </a:xfrm>
        </p:spPr>
        <p:txBody>
          <a:bodyPr>
            <a:normAutofit fontScale="92500" lnSpcReduction="20000"/>
          </a:bodyPr>
          <a:lstStyle/>
          <a:p>
            <a:r>
              <a:rPr lang="en-US" altLang="ja-JP" dirty="0"/>
              <a:t>2025.12.04</a:t>
            </a:r>
          </a:p>
          <a:p>
            <a:r>
              <a:rPr lang="ja-JP" altLang="en-US" dirty="0"/>
              <a:t>開発３課　伊藤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DF14C81-1FAB-C212-BEF9-4B870D242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38C6-DFEE-4049-817C-214F39B6A44B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1435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9BF70A8-5848-CB3C-A8BC-73382703F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ja-JP" sz="3200" dirty="0"/>
              <a:t>Index</a:t>
            </a:r>
          </a:p>
          <a:p>
            <a:pPr marL="0" indent="0">
              <a:buNone/>
            </a:pPr>
            <a:r>
              <a:rPr kumimoji="1" lang="en-US" altLang="ja-JP" sz="2400" dirty="0"/>
              <a:t>(1) CMOS &amp; Bipolar</a:t>
            </a:r>
            <a:r>
              <a:rPr kumimoji="1" lang="ja-JP" altLang="en-US" sz="2400" dirty="0"/>
              <a:t>の</a:t>
            </a:r>
            <a:r>
              <a:rPr lang="ja-JP" altLang="en-US" sz="2400" dirty="0"/>
              <a:t>デバイス構造。</a:t>
            </a:r>
            <a:endParaRPr kumimoji="1" lang="ja-JP" altLang="en-US" sz="2400" dirty="0"/>
          </a:p>
          <a:p>
            <a:pPr marL="0" indent="0">
              <a:buNone/>
            </a:pPr>
            <a:r>
              <a:rPr kumimoji="1" lang="en-US" altLang="ja-JP" sz="2400" dirty="0"/>
              <a:t>(2) MOS</a:t>
            </a:r>
            <a:r>
              <a:rPr kumimoji="1" lang="ja-JP" altLang="en-US" sz="2400" dirty="0"/>
              <a:t>トランジスタの動作原理、（空乏層、強反転、</a:t>
            </a:r>
            <a:endParaRPr kumimoji="1" lang="en-US" altLang="ja-JP" sz="2400" dirty="0"/>
          </a:p>
          <a:p>
            <a:pPr marL="0" indent="0">
              <a:buNone/>
            </a:pPr>
            <a:r>
              <a:rPr lang="en-US" altLang="ja-JP" sz="2400" dirty="0"/>
              <a:t>    </a:t>
            </a:r>
            <a:r>
              <a:rPr kumimoji="1" lang="ja-JP" altLang="en-US" sz="2400" dirty="0"/>
              <a:t>  ピンチオフ）、温度特性式</a:t>
            </a:r>
            <a:r>
              <a:rPr lang="ja-JP" altLang="en-US" sz="2400" dirty="0"/>
              <a:t>。</a:t>
            </a:r>
            <a:br>
              <a:rPr lang="en-US" altLang="ja-JP" sz="2400" dirty="0"/>
            </a:br>
            <a:r>
              <a:rPr lang="ja-JP" altLang="en-US" sz="2400" dirty="0"/>
              <a:t>　  対比として、</a:t>
            </a:r>
            <a:r>
              <a:rPr lang="en-US" altLang="ja-JP" sz="2400" dirty="0"/>
              <a:t>CCD</a:t>
            </a:r>
            <a:r>
              <a:rPr lang="ja-JP" altLang="en-US" sz="2400" dirty="0"/>
              <a:t>、</a:t>
            </a:r>
            <a:r>
              <a:rPr lang="en-US" altLang="ja-JP" sz="2400" dirty="0"/>
              <a:t>MOS</a:t>
            </a:r>
            <a:r>
              <a:rPr lang="ja-JP" altLang="en-US" sz="2400" dirty="0"/>
              <a:t>センサの動作</a:t>
            </a:r>
            <a:endParaRPr lang="en-US" altLang="ja-JP" sz="2400" dirty="0"/>
          </a:p>
          <a:p>
            <a:pPr marL="0" indent="0">
              <a:buNone/>
            </a:pPr>
            <a:r>
              <a:rPr kumimoji="1" lang="en-US" altLang="ja-JP" sz="2400" dirty="0"/>
              <a:t>(3) MOS</a:t>
            </a:r>
            <a:r>
              <a:rPr kumimoji="1" lang="ja-JP" altLang="en-US" sz="2400" dirty="0"/>
              <a:t>の論理回路</a:t>
            </a:r>
            <a:r>
              <a:rPr kumimoji="1" lang="en-US" altLang="ja-JP" sz="2400" dirty="0"/>
              <a:t>(</a:t>
            </a:r>
            <a:r>
              <a:rPr kumimoji="1" lang="en-US" altLang="ja-JP" sz="2400" dirty="0" err="1"/>
              <a:t>inv,nand,nor</a:t>
            </a:r>
            <a:r>
              <a:rPr kumimoji="1" lang="en-US" altLang="ja-JP" sz="2400" dirty="0"/>
              <a:t>)</a:t>
            </a:r>
            <a:r>
              <a:rPr lang="ja-JP" altLang="en-US" sz="2400" dirty="0"/>
              <a:t>、アナログ</a:t>
            </a:r>
            <a:r>
              <a:rPr lang="en-US" altLang="ja-JP" sz="2400" dirty="0"/>
              <a:t>SW</a:t>
            </a:r>
            <a:r>
              <a:rPr kumimoji="1" lang="ja-JP" altLang="en-US" sz="2400" dirty="0"/>
              <a:t>、</a:t>
            </a:r>
            <a:r>
              <a:rPr lang="ja-JP" altLang="en-US" sz="2400" dirty="0"/>
              <a:t>ショットキーダイオード、シャントレギュレータ、</a:t>
            </a:r>
            <a:r>
              <a:rPr kumimoji="1" lang="ja-JP" altLang="en-US" sz="2400" dirty="0"/>
              <a:t>レイアウト事例、</a:t>
            </a:r>
            <a:r>
              <a:rPr kumimoji="1" lang="en-US" altLang="ja-JP" sz="2400" dirty="0"/>
              <a:t>IO</a:t>
            </a:r>
            <a:r>
              <a:rPr kumimoji="1" lang="ja-JP" altLang="en-US" sz="2400" dirty="0"/>
              <a:t>周辺、標準ロジックの</a:t>
            </a:r>
            <a:r>
              <a:rPr kumimoji="1" lang="en-US" altLang="ja-JP" sz="2400" dirty="0"/>
              <a:t>IO</a:t>
            </a:r>
            <a:r>
              <a:rPr kumimoji="1" lang="ja-JP" altLang="en-US" sz="2400" dirty="0"/>
              <a:t>トレラント。</a:t>
            </a:r>
            <a:endParaRPr kumimoji="1" lang="en-US" altLang="ja-JP" sz="2400" dirty="0"/>
          </a:p>
          <a:p>
            <a:pPr marL="0" indent="0">
              <a:buNone/>
            </a:pPr>
            <a:endParaRPr kumimoji="1" lang="ja-JP" altLang="en-US" sz="2400" dirty="0"/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3EAADB4-9B02-A9DC-9385-326FAAA42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38C6-DFEE-4049-817C-214F39B6A44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3209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220D37-4FB0-39E6-6E6A-C9C381C3E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kumimoji="1" lang="en-US" altLang="ja-JP" sz="2800" dirty="0"/>
              <a:t>MOS</a:t>
            </a:r>
            <a:r>
              <a:rPr lang="en-US" altLang="ja-JP" sz="2800" dirty="0"/>
              <a:t>-Tr</a:t>
            </a:r>
            <a:r>
              <a:rPr lang="ja-JP" altLang="en-US" sz="2800" dirty="0"/>
              <a:t>のディスクリート＆</a:t>
            </a:r>
            <a:r>
              <a:rPr lang="en-US" altLang="ja-JP" sz="2800" dirty="0"/>
              <a:t>IC</a:t>
            </a:r>
            <a:r>
              <a:rPr lang="ja-JP" altLang="en-US" sz="2800" dirty="0"/>
              <a:t>のデバイス構造</a:t>
            </a:r>
            <a:endParaRPr kumimoji="1" lang="ja-JP" altLang="en-US" sz="2800" dirty="0"/>
          </a:p>
        </p:txBody>
      </p:sp>
      <p:pic>
        <p:nvPicPr>
          <p:cNvPr id="6" name="コンテンツ プレースホルダー 5">
            <a:extLst>
              <a:ext uri="{FF2B5EF4-FFF2-40B4-BE49-F238E27FC236}">
                <a16:creationId xmlns:a16="http://schemas.microsoft.com/office/drawing/2014/main" id="{535C7FD3-2E05-8944-1AE6-822190BFD6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8961" y="2153470"/>
            <a:ext cx="2379387" cy="1555155"/>
          </a:xfrm>
        </p:spPr>
      </p:pic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F8153B5-CB0F-1C2C-83E8-D06F82895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38C6-DFEE-4049-817C-214F39B6A44B}" type="slidenum">
              <a:rPr kumimoji="1" lang="ja-JP" altLang="en-US" smtClean="0"/>
              <a:t>3</a:t>
            </a:fld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FC78D4A-105C-1079-449E-0E4E01456E05}"/>
              </a:ext>
            </a:extLst>
          </p:cNvPr>
          <p:cNvSpPr txBox="1"/>
          <p:nvPr/>
        </p:nvSpPr>
        <p:spPr>
          <a:xfrm>
            <a:off x="1058959" y="1507139"/>
            <a:ext cx="2379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東芝 ディスクリート</a:t>
            </a:r>
            <a:r>
              <a:rPr kumimoji="1" lang="en-US" altLang="ja-JP" dirty="0" err="1"/>
              <a:t>Nch</a:t>
            </a:r>
            <a:r>
              <a:rPr kumimoji="1" lang="en-US" altLang="ja-JP" dirty="0"/>
              <a:t>-MOS FET</a:t>
            </a:r>
            <a:endParaRPr kumimoji="1" lang="ja-JP" altLang="en-US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D38FAE7D-2772-CCD5-5D6D-58B0C093A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958" y="4778524"/>
            <a:ext cx="2379387" cy="1577827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6D903D6-7BFB-E700-4A88-2A41E9FED115}"/>
              </a:ext>
            </a:extLst>
          </p:cNvPr>
          <p:cNvSpPr txBox="1"/>
          <p:nvPr/>
        </p:nvSpPr>
        <p:spPr>
          <a:xfrm>
            <a:off x="1058958" y="4116638"/>
            <a:ext cx="2379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東芝 ディスクリート</a:t>
            </a:r>
            <a:r>
              <a:rPr kumimoji="1" lang="en-US" altLang="ja-JP" dirty="0" err="1"/>
              <a:t>Pch</a:t>
            </a:r>
            <a:r>
              <a:rPr kumimoji="1" lang="en-US" altLang="ja-JP" dirty="0"/>
              <a:t>-MOS FET</a:t>
            </a:r>
            <a:endParaRPr kumimoji="1" lang="ja-JP" altLang="en-US" dirty="0"/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27E1CA56-C391-064D-8372-E3BCDB8EF7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2872" y="3689017"/>
            <a:ext cx="4227286" cy="2079454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1A32821-2E8A-881F-0897-AF13ABF4B811}"/>
              </a:ext>
            </a:extLst>
          </p:cNvPr>
          <p:cNvSpPr txBox="1"/>
          <p:nvPr/>
        </p:nvSpPr>
        <p:spPr>
          <a:xfrm>
            <a:off x="4855624" y="3283416"/>
            <a:ext cx="2804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東芝 </a:t>
            </a:r>
            <a:r>
              <a:rPr kumimoji="1" lang="en-US" altLang="ja-JP" dirty="0"/>
              <a:t>CMOS Tr (inverter)</a:t>
            </a:r>
            <a:endParaRPr kumimoji="1" lang="ja-JP" altLang="en-US" dirty="0"/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B356BF06-4EFE-D583-A704-66016C1435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1230" y="1923394"/>
            <a:ext cx="1367970" cy="1243011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73F6F009-D9BF-4132-BC8A-AAF4228B09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6353" y="2034432"/>
            <a:ext cx="1114581" cy="1005028"/>
          </a:xfrm>
          <a:prstGeom prst="rect">
            <a:avLst/>
          </a:prstGeom>
        </p:spPr>
      </p:pic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B7546A48-3E44-B759-E7FD-13A0D6494D29}"/>
              </a:ext>
            </a:extLst>
          </p:cNvPr>
          <p:cNvSpPr/>
          <p:nvPr/>
        </p:nvSpPr>
        <p:spPr>
          <a:xfrm>
            <a:off x="628650" y="1431608"/>
            <a:ext cx="3196590" cy="242594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538CF066-87EE-C3C1-6867-88A5E7EAFE93}"/>
              </a:ext>
            </a:extLst>
          </p:cNvPr>
          <p:cNvSpPr/>
          <p:nvPr/>
        </p:nvSpPr>
        <p:spPr>
          <a:xfrm>
            <a:off x="650356" y="4041712"/>
            <a:ext cx="3196590" cy="242594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E3CFC537-1AE2-BE02-79F4-D6AB073E8199}"/>
              </a:ext>
            </a:extLst>
          </p:cNvPr>
          <p:cNvSpPr/>
          <p:nvPr/>
        </p:nvSpPr>
        <p:spPr>
          <a:xfrm>
            <a:off x="4082415" y="1700461"/>
            <a:ext cx="4751070" cy="43141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0408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220D37-4FB0-39E6-6E6A-C9C381C3E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kumimoji="1" lang="en-US" altLang="ja-JP" sz="2800" dirty="0"/>
              <a:t>N</a:t>
            </a:r>
            <a:r>
              <a:rPr kumimoji="1" lang="ja-JP" altLang="en-US" sz="2800" dirty="0"/>
              <a:t>型半導体と</a:t>
            </a:r>
            <a:r>
              <a:rPr kumimoji="1" lang="en-US" altLang="ja-JP" sz="2800" dirty="0"/>
              <a:t>p</a:t>
            </a:r>
            <a:r>
              <a:rPr kumimoji="1" lang="ja-JP" altLang="en-US" sz="2800" dirty="0"/>
              <a:t>型半導体</a:t>
            </a:r>
          </a:p>
        </p:txBody>
      </p:sp>
      <p:pic>
        <p:nvPicPr>
          <p:cNvPr id="6" name="コンテンツ プレースホルダー 5">
            <a:extLst>
              <a:ext uri="{FF2B5EF4-FFF2-40B4-BE49-F238E27FC236}">
                <a16:creationId xmlns:a16="http://schemas.microsoft.com/office/drawing/2014/main" id="{98A40F1A-C172-FD16-67E0-1492AC31BC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6751" y="1608577"/>
            <a:ext cx="1262170" cy="439015"/>
          </a:xfrm>
        </p:spPr>
      </p:pic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E4E741B-FE9D-0BB2-5AC8-CC52BAE19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38C6-DFEE-4049-817C-214F39B6A44B}" type="slidenum">
              <a:rPr kumimoji="1" lang="ja-JP" altLang="en-US" smtClean="0"/>
              <a:t>4</a:t>
            </a:fld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556B423D-6287-6553-98B0-77241A3AB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916" y="2234213"/>
            <a:ext cx="2267525" cy="1325564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AF9B41A-265E-DD71-93B1-3B39AE700C1A}"/>
              </a:ext>
            </a:extLst>
          </p:cNvPr>
          <p:cNvSpPr txBox="1"/>
          <p:nvPr/>
        </p:nvSpPr>
        <p:spPr>
          <a:xfrm>
            <a:off x="752408" y="5935980"/>
            <a:ext cx="35585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/>
              <a:t>自由電子として動作する</a:t>
            </a:r>
            <a:r>
              <a:rPr kumimoji="1" lang="en-US" altLang="ja-JP" sz="1600" dirty="0"/>
              <a:t>n</a:t>
            </a:r>
            <a:r>
              <a:rPr kumimoji="1" lang="ja-JP" altLang="en-US" sz="1600" dirty="0"/>
              <a:t>型半導体</a:t>
            </a: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F13BEFD7-1BDC-CF36-3C94-4FBE41C9FD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9419" y="1585574"/>
            <a:ext cx="1358463" cy="439015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470D7AD0-D55A-8B9F-53BE-F59831335C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0323" y="2161068"/>
            <a:ext cx="2167536" cy="1398709"/>
          </a:xfrm>
          <a:prstGeom prst="rect">
            <a:avLst/>
          </a:prstGeom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0C29AE1-CAD2-2B6A-3EA7-68ACB7DAC8EA}"/>
              </a:ext>
            </a:extLst>
          </p:cNvPr>
          <p:cNvSpPr txBox="1"/>
          <p:nvPr/>
        </p:nvSpPr>
        <p:spPr>
          <a:xfrm>
            <a:off x="4572000" y="5927105"/>
            <a:ext cx="4189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/>
              <a:t>正の電荷（正孔）として動作する</a:t>
            </a:r>
            <a:r>
              <a:rPr kumimoji="1" lang="en-US" altLang="ja-JP" sz="1600" dirty="0"/>
              <a:t>p</a:t>
            </a:r>
            <a:r>
              <a:rPr kumimoji="1" lang="ja-JP" altLang="en-US" sz="1600" dirty="0"/>
              <a:t>型半導体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0DFBBBB-389A-C5F0-39BE-32D39B657B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995" y="3726208"/>
            <a:ext cx="4135435" cy="1934473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9FB0E619-D0AA-DA96-8D48-3F5AE5BD97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7712" y="3696256"/>
            <a:ext cx="4124458" cy="1914283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93D8C95-5C55-1D5C-DE6D-F527EDBC7E90}"/>
              </a:ext>
            </a:extLst>
          </p:cNvPr>
          <p:cNvSpPr txBox="1"/>
          <p:nvPr/>
        </p:nvSpPr>
        <p:spPr>
          <a:xfrm>
            <a:off x="1097321" y="5382832"/>
            <a:ext cx="19179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solidFill>
                  <a:srgbClr val="FF0000"/>
                </a:solidFill>
              </a:rPr>
              <a:t>45meV</a:t>
            </a:r>
            <a:r>
              <a:rPr kumimoji="1" lang="ja-JP" altLang="en-US" sz="1200" dirty="0">
                <a:solidFill>
                  <a:srgbClr val="FF0000"/>
                </a:solidFill>
              </a:rPr>
              <a:t>で自由電子に励起</a:t>
            </a:r>
          </a:p>
        </p:txBody>
      </p:sp>
    </p:spTree>
    <p:extLst>
      <p:ext uri="{BB962C8B-B14F-4D97-AF65-F5344CB8AC3E}">
        <p14:creationId xmlns:p14="http://schemas.microsoft.com/office/powerpoint/2010/main" val="2465845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220D37-4FB0-39E6-6E6A-C9C381C3E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kumimoji="1" lang="en-US" altLang="ja-JP" sz="4000" dirty="0"/>
              <a:t>MOS</a:t>
            </a:r>
            <a:r>
              <a:rPr kumimoji="1" lang="ja-JP" altLang="en-US" sz="4000" dirty="0"/>
              <a:t>トランジスタの動作</a:t>
            </a:r>
          </a:p>
        </p:txBody>
      </p:sp>
      <p:pic>
        <p:nvPicPr>
          <p:cNvPr id="6" name="コンテンツ プレースホルダー 5">
            <a:extLst>
              <a:ext uri="{FF2B5EF4-FFF2-40B4-BE49-F238E27FC236}">
                <a16:creationId xmlns:a16="http://schemas.microsoft.com/office/drawing/2014/main" id="{480FF569-8AB3-F263-0CD2-88F010A700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8003" y="1547080"/>
            <a:ext cx="2775784" cy="2094414"/>
          </a:xfrm>
        </p:spPr>
      </p:pic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E4E741B-FE9D-0BB2-5AC8-CC52BAE19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38C6-DFEE-4049-817C-214F39B6A44B}" type="slidenum">
              <a:rPr kumimoji="1" lang="ja-JP" altLang="en-US" smtClean="0"/>
              <a:t>5</a:t>
            </a:fld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E84BE906-80B1-6DF5-06CB-4C6901D9A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2684" y="1500337"/>
            <a:ext cx="2909455" cy="2165928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C4CA6917-8F14-8D01-A78C-E4074BECA9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202" y="3898588"/>
            <a:ext cx="2847585" cy="2170472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56B5AC54-43B8-8090-E8EC-75FADE4BE1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2683" y="3898588"/>
            <a:ext cx="2788137" cy="2086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643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220D37-4FB0-39E6-6E6A-C9C381C3E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kumimoji="1" lang="en-US" altLang="ja-JP" sz="4000" dirty="0"/>
              <a:t>MOS</a:t>
            </a:r>
            <a:r>
              <a:rPr kumimoji="1" lang="ja-JP" altLang="en-US" sz="4000" dirty="0"/>
              <a:t>トランジスタの動作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E4E741B-FE9D-0BB2-5AC8-CC52BAE19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38C6-DFEE-4049-817C-214F39B6A44B}" type="slidenum">
              <a:rPr kumimoji="1" lang="ja-JP" altLang="en-US" smtClean="0"/>
              <a:t>6</a:t>
            </a:fld>
            <a:endParaRPr kumimoji="1" lang="ja-JP" altLang="en-US"/>
          </a:p>
        </p:txBody>
      </p:sp>
      <p:pic>
        <p:nvPicPr>
          <p:cNvPr id="12" name="コンテンツ プレースホルダー 11">
            <a:extLst>
              <a:ext uri="{FF2B5EF4-FFF2-40B4-BE49-F238E27FC236}">
                <a16:creationId xmlns:a16="http://schemas.microsoft.com/office/drawing/2014/main" id="{D3658576-E034-666E-DD11-51235E3816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4655" y="1780282"/>
            <a:ext cx="2792100" cy="215814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257D3450-05F8-22EF-9930-88A79595F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3222" y="1788065"/>
            <a:ext cx="2909455" cy="2165928"/>
          </a:xfrm>
          <a:prstGeom prst="rect">
            <a:avLst/>
          </a:prstGeom>
        </p:spPr>
      </p:pic>
      <p:sp>
        <p:nvSpPr>
          <p:cNvPr id="15" name="矢印: 右 14">
            <a:extLst>
              <a:ext uri="{FF2B5EF4-FFF2-40B4-BE49-F238E27FC236}">
                <a16:creationId xmlns:a16="http://schemas.microsoft.com/office/drawing/2014/main" id="{5A9122E5-74F5-626C-BAA6-5E554E359D63}"/>
              </a:ext>
            </a:extLst>
          </p:cNvPr>
          <p:cNvSpPr/>
          <p:nvPr/>
        </p:nvSpPr>
        <p:spPr>
          <a:xfrm>
            <a:off x="4394647" y="2780984"/>
            <a:ext cx="302280" cy="3022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31B3CD06-B678-A4C7-993B-6D72C54383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7738" y="4186800"/>
            <a:ext cx="1080510" cy="297532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7C16AF29-571B-8FDD-C499-F48E7E73BF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5430" y="4715712"/>
            <a:ext cx="2133898" cy="638264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E00FE0BF-76FA-CB85-2517-34A71BEF4A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5430" y="5495170"/>
            <a:ext cx="3013062" cy="1097194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C476AAB0-9319-6A34-180E-BA327F08CF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6927" y="5983118"/>
            <a:ext cx="3307764" cy="455908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A1EAB3FB-018D-9A29-92D1-FA64A4728A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48060" y="4221681"/>
            <a:ext cx="3419777" cy="1572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649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220D37-4FB0-39E6-6E6A-C9C381C3E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kumimoji="1" lang="ja-JP" altLang="en-US" sz="2800" dirty="0"/>
              <a:t>線形領域と飽和領域</a:t>
            </a:r>
          </a:p>
        </p:txBody>
      </p:sp>
      <p:pic>
        <p:nvPicPr>
          <p:cNvPr id="6" name="コンテンツ プレースホルダー 5">
            <a:extLst>
              <a:ext uri="{FF2B5EF4-FFF2-40B4-BE49-F238E27FC236}">
                <a16:creationId xmlns:a16="http://schemas.microsoft.com/office/drawing/2014/main" id="{BD0C6B17-FE9E-D568-273D-6B5B82F6D0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4153" y="1690689"/>
            <a:ext cx="4956767" cy="3925888"/>
          </a:xfrm>
        </p:spPr>
      </p:pic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A70BF7C-EA92-D886-1FE5-A89B0BE3E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38C6-DFEE-4049-817C-214F39B6A44B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187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220D37-4FB0-39E6-6E6A-C9C381C3E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4000" dirty="0"/>
              <a:t>ドレイン電流</a:t>
            </a:r>
            <a:endParaRPr kumimoji="1" lang="ja-JP" altLang="en-US" sz="4000" dirty="0"/>
          </a:p>
        </p:txBody>
      </p:sp>
      <p:pic>
        <p:nvPicPr>
          <p:cNvPr id="6" name="コンテンツ プレースホルダー 5">
            <a:extLst>
              <a:ext uri="{FF2B5EF4-FFF2-40B4-BE49-F238E27FC236}">
                <a16:creationId xmlns:a16="http://schemas.microsoft.com/office/drawing/2014/main" id="{51D1069E-8815-6008-E329-F022F532E4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7915" y="1833904"/>
            <a:ext cx="2825715" cy="2360248"/>
          </a:xfrm>
        </p:spPr>
      </p:pic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E4E741B-FE9D-0BB2-5AC8-CC52BAE19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38C6-DFEE-4049-817C-214F39B6A44B}" type="slidenum">
              <a:rPr kumimoji="1" lang="ja-JP" altLang="en-US" smtClean="0"/>
              <a:t>8</a:t>
            </a:fld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DEC16675-6CD1-99C4-A63C-FAE94D6F97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665" y="4564767"/>
            <a:ext cx="3514108" cy="1173591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BF9C9C9F-7B0A-C089-5B43-AB4FA74B89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1669" y="4564767"/>
            <a:ext cx="3688431" cy="1173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553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220D37-4FB0-39E6-6E6A-C9C381C3E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ja-JP" sz="2800" dirty="0"/>
              <a:t>MOS</a:t>
            </a:r>
            <a:r>
              <a:rPr lang="ja-JP" altLang="en-US" sz="2800" dirty="0"/>
              <a:t>トランジスタの小信号モデル</a:t>
            </a:r>
            <a:endParaRPr kumimoji="1" lang="ja-JP" altLang="en-US" sz="2800" dirty="0"/>
          </a:p>
        </p:txBody>
      </p:sp>
      <p:pic>
        <p:nvPicPr>
          <p:cNvPr id="6" name="コンテンツ プレースホルダー 5">
            <a:extLst>
              <a:ext uri="{FF2B5EF4-FFF2-40B4-BE49-F238E27FC236}">
                <a16:creationId xmlns:a16="http://schemas.microsoft.com/office/drawing/2014/main" id="{BABCC9CD-AD5E-E2F7-AC5E-176F6EE87F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7846" y="1359059"/>
            <a:ext cx="3586514" cy="2664461"/>
          </a:xfrm>
        </p:spPr>
      </p:pic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E4E741B-FE9D-0BB2-5AC8-CC52BAE19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38C6-DFEE-4049-817C-214F39B6A44B}" type="slidenum">
              <a:rPr kumimoji="1" lang="ja-JP" altLang="en-US" smtClean="0"/>
              <a:t>9</a:t>
            </a:fld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8B79DC2C-027A-BC46-664A-37EDC5B14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122" y="1359059"/>
            <a:ext cx="3981970" cy="2664460"/>
          </a:xfrm>
          <a:prstGeom prst="rect">
            <a:avLst/>
          </a:prstGeom>
        </p:spPr>
      </p:pic>
      <p:sp>
        <p:nvSpPr>
          <p:cNvPr id="9" name="矢印: 下 8">
            <a:extLst>
              <a:ext uri="{FF2B5EF4-FFF2-40B4-BE49-F238E27FC236}">
                <a16:creationId xmlns:a16="http://schemas.microsoft.com/office/drawing/2014/main" id="{0CE873A7-41DD-7E39-FE42-453C9A92FA5E}"/>
              </a:ext>
            </a:extLst>
          </p:cNvPr>
          <p:cNvSpPr/>
          <p:nvPr/>
        </p:nvSpPr>
        <p:spPr>
          <a:xfrm>
            <a:off x="4030980" y="4175760"/>
            <a:ext cx="1082040" cy="56388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7082CC66-2FCB-8822-DECD-48E62B104B8B}"/>
              </a:ext>
            </a:extLst>
          </p:cNvPr>
          <p:cNvCxnSpPr>
            <a:cxnSpLocks/>
          </p:cNvCxnSpPr>
          <p:nvPr/>
        </p:nvCxnSpPr>
        <p:spPr>
          <a:xfrm flipV="1">
            <a:off x="7650480" y="2354580"/>
            <a:ext cx="0" cy="3367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6457E017-4BEC-20DC-F717-22A93DC45F1C}"/>
              </a:ext>
            </a:extLst>
          </p:cNvPr>
          <p:cNvCxnSpPr>
            <a:cxnSpLocks/>
          </p:cNvCxnSpPr>
          <p:nvPr/>
        </p:nvCxnSpPr>
        <p:spPr>
          <a:xfrm>
            <a:off x="7650480" y="2691289"/>
            <a:ext cx="0" cy="3186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EB3454F-E58B-66B7-D4D7-D195684C11E5}"/>
              </a:ext>
            </a:extLst>
          </p:cNvPr>
          <p:cNvSpPr txBox="1"/>
          <p:nvPr/>
        </p:nvSpPr>
        <p:spPr>
          <a:xfrm>
            <a:off x="7650480" y="2400013"/>
            <a:ext cx="1097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＋</a:t>
            </a:r>
            <a:r>
              <a:rPr kumimoji="1" lang="en-US" altLang="ja-JP" sz="1200" dirty="0" err="1"/>
              <a:t>ΔVgs</a:t>
            </a:r>
            <a:endParaRPr kumimoji="1" lang="ja-JP" altLang="en-US" sz="1200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7C621BF-A3F4-E81E-C8EE-64D72D5FBF4C}"/>
              </a:ext>
            </a:extLst>
          </p:cNvPr>
          <p:cNvSpPr txBox="1"/>
          <p:nvPr/>
        </p:nvSpPr>
        <p:spPr>
          <a:xfrm>
            <a:off x="7108338" y="2677012"/>
            <a:ext cx="1097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-</a:t>
            </a:r>
            <a:r>
              <a:rPr kumimoji="1" lang="en-US" altLang="ja-JP" sz="1200" dirty="0" err="1"/>
              <a:t>ΔVgs</a:t>
            </a:r>
            <a:endParaRPr kumimoji="1" lang="ja-JP" altLang="en-US" sz="12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CE396AC-66BE-18D6-83A3-AF5C5507E773}"/>
              </a:ext>
            </a:extLst>
          </p:cNvPr>
          <p:cNvSpPr txBox="1"/>
          <p:nvPr/>
        </p:nvSpPr>
        <p:spPr>
          <a:xfrm>
            <a:off x="4907280" y="4133651"/>
            <a:ext cx="40462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err="1"/>
              <a:t>ΔVgs</a:t>
            </a:r>
            <a:r>
              <a:rPr kumimoji="1" lang="ja-JP" altLang="en-US" sz="1400" dirty="0"/>
              <a:t>がどの範囲であれば、線形とみなせるか？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E7F10E2-26DC-2660-F4CD-4F64788A0E18}"/>
              </a:ext>
            </a:extLst>
          </p:cNvPr>
          <p:cNvSpPr txBox="1"/>
          <p:nvPr/>
        </p:nvSpPr>
        <p:spPr>
          <a:xfrm>
            <a:off x="2186940" y="4922520"/>
            <a:ext cx="58826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・</a:t>
            </a:r>
            <a:r>
              <a:rPr lang="en-US" altLang="ja-JP" dirty="0"/>
              <a:t>Taylor</a:t>
            </a:r>
            <a:r>
              <a:rPr lang="ja-JP" altLang="en-US" dirty="0"/>
              <a:t>展開で二次項の影響が無視できるレベル。</a:t>
            </a:r>
            <a:endParaRPr lang="en-US" altLang="ja-JP" dirty="0"/>
          </a:p>
          <a:p>
            <a:r>
              <a:rPr lang="ja-JP" altLang="en-US" dirty="0"/>
              <a:t>・</a:t>
            </a:r>
            <a:r>
              <a:rPr lang="en-US" altLang="ja-JP" dirty="0"/>
              <a:t>10%</a:t>
            </a:r>
            <a:r>
              <a:rPr lang="ja-JP" altLang="en-US" dirty="0"/>
              <a:t>を超えると歪み（</a:t>
            </a:r>
            <a:r>
              <a:rPr lang="en-US" altLang="ja-JP" dirty="0"/>
              <a:t>2</a:t>
            </a:r>
            <a:r>
              <a:rPr lang="ja-JP" altLang="en-US" dirty="0"/>
              <a:t>次高調波）が急増。</a:t>
            </a:r>
          </a:p>
          <a:p>
            <a:r>
              <a:rPr kumimoji="1" lang="ja-JP" altLang="en-US" dirty="0"/>
              <a:t>・</a:t>
            </a:r>
            <a:r>
              <a:rPr lang="en-US" altLang="ja-JP" dirty="0"/>
              <a:t>RF</a:t>
            </a:r>
            <a:r>
              <a:rPr lang="ja-JP" altLang="en-US" dirty="0"/>
              <a:t>や精密アナログではさらに小さく（数 </a:t>
            </a:r>
            <a:r>
              <a:rPr lang="en-US" altLang="ja-JP" dirty="0"/>
              <a:t>mV</a:t>
            </a:r>
            <a:r>
              <a:rPr lang="ja-JP" altLang="en-US" dirty="0"/>
              <a:t>）。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38536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220D37-4FB0-39E6-6E6A-C9C381C3E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4000" dirty="0"/>
              <a:t>スイッチ特性</a:t>
            </a:r>
            <a:endParaRPr kumimoji="1" lang="ja-JP" altLang="en-US" sz="40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8649F6E-CDB0-3A67-5D2F-1DB1FAEE7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E4E741B-FE9D-0BB2-5AC8-CC52BAE19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38C6-DFEE-4049-817C-214F39B6A44B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6036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220D37-4FB0-39E6-6E6A-C9C381C3E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kumimoji="1" lang="en-US" altLang="ja-JP" sz="2800" dirty="0"/>
              <a:t>MOSFET</a:t>
            </a:r>
            <a:r>
              <a:rPr kumimoji="1" lang="ja-JP" altLang="en-US" sz="2800" dirty="0"/>
              <a:t>の閾値電圧と基板バイアス効果</a:t>
            </a:r>
          </a:p>
        </p:txBody>
      </p:sp>
      <p:pic>
        <p:nvPicPr>
          <p:cNvPr id="6" name="コンテンツ プレースホルダー 5">
            <a:extLst>
              <a:ext uri="{FF2B5EF4-FFF2-40B4-BE49-F238E27FC236}">
                <a16:creationId xmlns:a16="http://schemas.microsoft.com/office/drawing/2014/main" id="{2DB7AD98-D528-2BFC-598C-4E1CFBADDC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9835" y="1924488"/>
            <a:ext cx="1867161" cy="295316"/>
          </a:xfrm>
        </p:spPr>
      </p:pic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E4E741B-FE9D-0BB2-5AC8-CC52BAE19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38C6-DFEE-4049-817C-214F39B6A44B}" type="slidenum">
              <a:rPr kumimoji="1" lang="ja-JP" altLang="en-US" smtClean="0"/>
              <a:t>11</a:t>
            </a:fld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D43B5FFE-B610-186E-FB82-36BB6C351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93" y="2453603"/>
            <a:ext cx="3224647" cy="2222192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9B6D8BCD-E21C-018D-C21C-BD36EAC4E4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093" y="5069896"/>
            <a:ext cx="3224647" cy="979338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3CB11194-DC38-E866-9EB3-035CBFEAD8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7006" y="1892273"/>
            <a:ext cx="1439612" cy="327531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433CB818-A69F-AC5A-22A2-2A80AD0A9E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5596" y="2444959"/>
            <a:ext cx="2324708" cy="2230836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80F1511B-C3ED-DB2B-3895-D70F9471F4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1219" y="4961423"/>
            <a:ext cx="3147424" cy="937284"/>
          </a:xfrm>
          <a:prstGeom prst="rect">
            <a:avLst/>
          </a:prstGeom>
        </p:spPr>
      </p:pic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9625A576-5B86-59BC-C8E0-0FE1C0C84E14}"/>
              </a:ext>
            </a:extLst>
          </p:cNvPr>
          <p:cNvSpPr/>
          <p:nvPr/>
        </p:nvSpPr>
        <p:spPr>
          <a:xfrm>
            <a:off x="7620304" y="5460504"/>
            <a:ext cx="426416" cy="277355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6763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220D37-4FB0-39E6-6E6A-C9C381C3E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kumimoji="1" lang="en-US" altLang="ja-JP" sz="3200" dirty="0"/>
              <a:t>Bipolar</a:t>
            </a:r>
            <a:r>
              <a:rPr lang="ja-JP" altLang="en-US" sz="3200" dirty="0"/>
              <a:t>トランジスタ</a:t>
            </a:r>
            <a:r>
              <a:rPr kumimoji="1" lang="ja-JP" altLang="en-US" sz="3200" dirty="0"/>
              <a:t>の</a:t>
            </a:r>
            <a:r>
              <a:rPr lang="ja-JP" altLang="en-US" sz="3200" dirty="0"/>
              <a:t>デバイス構造</a:t>
            </a:r>
            <a:endParaRPr kumimoji="1" lang="ja-JP" altLang="en-US" sz="3200" dirty="0"/>
          </a:p>
        </p:txBody>
      </p:sp>
      <p:pic>
        <p:nvPicPr>
          <p:cNvPr id="6" name="コンテンツ プレースホルダー 5">
            <a:extLst>
              <a:ext uri="{FF2B5EF4-FFF2-40B4-BE49-F238E27FC236}">
                <a16:creationId xmlns:a16="http://schemas.microsoft.com/office/drawing/2014/main" id="{75917E45-DB26-95E8-A065-128F89E47F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6350" y="1751649"/>
            <a:ext cx="5984767" cy="2942271"/>
          </a:xfrm>
        </p:spPr>
      </p:pic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F8153B5-CB0F-1C2C-83E8-D06F82895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38C6-DFEE-4049-817C-214F39B6A44B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9209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220D37-4FB0-39E6-6E6A-C9C381C3E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738" y="372683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kumimoji="1" lang="en-US" altLang="ja-JP" sz="3200" dirty="0"/>
              <a:t>MOS</a:t>
            </a:r>
            <a:r>
              <a:rPr kumimoji="1" lang="ja-JP" altLang="en-US" sz="3200" dirty="0"/>
              <a:t>の論理回路</a:t>
            </a:r>
            <a:r>
              <a:rPr kumimoji="1" lang="en-US" altLang="ja-JP" sz="3200" dirty="0"/>
              <a:t>(inv</a:t>
            </a:r>
            <a:r>
              <a:rPr lang="ja-JP" altLang="en-US" sz="3200" dirty="0"/>
              <a:t>回路とレイアウト</a:t>
            </a:r>
            <a:r>
              <a:rPr kumimoji="1" lang="en-US" altLang="ja-JP" sz="3200" dirty="0"/>
              <a:t>)</a:t>
            </a:r>
            <a:endParaRPr kumimoji="1" lang="ja-JP" altLang="en-US" sz="32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DA84C90-CE54-7B4B-365A-2E11AF027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38C6-DFEE-4049-817C-214F39B6A44B}" type="slidenum">
              <a:rPr kumimoji="1" lang="ja-JP" altLang="en-US" smtClean="0"/>
              <a:t>13</a:t>
            </a:fld>
            <a:endParaRPr kumimoji="1" lang="ja-JP" altLang="en-US" dirty="0"/>
          </a:p>
        </p:txBody>
      </p:sp>
      <p:pic>
        <p:nvPicPr>
          <p:cNvPr id="22" name="図 21">
            <a:extLst>
              <a:ext uri="{FF2B5EF4-FFF2-40B4-BE49-F238E27FC236}">
                <a16:creationId xmlns:a16="http://schemas.microsoft.com/office/drawing/2014/main" id="{F61EBCAE-DE37-7A16-B67B-0E1ABF56C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164" y="3830985"/>
            <a:ext cx="1769647" cy="1486356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98D65476-9A7D-B45A-9A73-DDB3434BF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164" y="2485191"/>
            <a:ext cx="1769647" cy="112847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A2D61888-83E0-9EF6-B737-1B256058C1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8164" y="2056045"/>
            <a:ext cx="1648055" cy="304843"/>
          </a:xfrm>
          <a:prstGeom prst="rect">
            <a:avLst/>
          </a:prstGeom>
        </p:spPr>
      </p:pic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0CABFD61-B2E3-0F48-2BF8-371559431231}"/>
              </a:ext>
            </a:extLst>
          </p:cNvPr>
          <p:cNvSpPr txBox="1"/>
          <p:nvPr/>
        </p:nvSpPr>
        <p:spPr>
          <a:xfrm>
            <a:off x="4760925" y="2020471"/>
            <a:ext cx="2894340" cy="375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典型的なレイアウト</a:t>
            </a:r>
          </a:p>
        </p:txBody>
      </p: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959007F1-478C-C102-9414-6D9C70D2175A}"/>
              </a:ext>
            </a:extLst>
          </p:cNvPr>
          <p:cNvGrpSpPr/>
          <p:nvPr/>
        </p:nvGrpSpPr>
        <p:grpSpPr>
          <a:xfrm>
            <a:off x="4240116" y="2378863"/>
            <a:ext cx="3535633" cy="2938479"/>
            <a:chOff x="4240116" y="2378863"/>
            <a:chExt cx="3535633" cy="2938479"/>
          </a:xfrm>
        </p:grpSpPr>
        <p:pic>
          <p:nvPicPr>
            <p:cNvPr id="28" name="図 27">
              <a:extLst>
                <a:ext uri="{FF2B5EF4-FFF2-40B4-BE49-F238E27FC236}">
                  <a16:creationId xmlns:a16="http://schemas.microsoft.com/office/drawing/2014/main" id="{16A1AC76-566E-1AAC-06FF-0C84C02F324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40116" y="2378863"/>
              <a:ext cx="3535633" cy="2938478"/>
            </a:xfrm>
            <a:prstGeom prst="rect">
              <a:avLst/>
            </a:prstGeom>
          </p:spPr>
        </p:pic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5B090046-CB98-B14E-0CC8-AAD13B45FA78}"/>
                </a:ext>
              </a:extLst>
            </p:cNvPr>
            <p:cNvSpPr/>
            <p:nvPr/>
          </p:nvSpPr>
          <p:spPr>
            <a:xfrm>
              <a:off x="7065818" y="4874282"/>
              <a:ext cx="709931" cy="4430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15594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DA84C90-CE54-7B4B-365A-2E11AF027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38C6-DFEE-4049-817C-214F39B6A44B}" type="slidenum">
              <a:rPr kumimoji="1" lang="ja-JP" altLang="en-US" smtClean="0"/>
              <a:t>14</a:t>
            </a:fld>
            <a:endParaRPr kumimoji="1" lang="ja-JP" altLang="en-US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6BD03719-71DB-C12A-B2F0-10F1313E2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38" y="2137928"/>
            <a:ext cx="3029294" cy="3303301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DD936736-24B3-3A3A-D92A-6921CE619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2734" y="2137928"/>
            <a:ext cx="4724999" cy="3303300"/>
          </a:xfrm>
          <a:prstGeom prst="rect">
            <a:avLst/>
          </a:prstGeom>
        </p:spPr>
      </p:pic>
      <p:sp>
        <p:nvSpPr>
          <p:cNvPr id="10" name="タイトル 1">
            <a:extLst>
              <a:ext uri="{FF2B5EF4-FFF2-40B4-BE49-F238E27FC236}">
                <a16:creationId xmlns:a16="http://schemas.microsoft.com/office/drawing/2014/main" id="{5381C219-28C6-7DC1-CBE3-5FCC7E086010}"/>
              </a:ext>
            </a:extLst>
          </p:cNvPr>
          <p:cNvSpPr txBox="1">
            <a:spLocks/>
          </p:cNvSpPr>
          <p:nvPr/>
        </p:nvSpPr>
        <p:spPr>
          <a:xfrm>
            <a:off x="741033" y="560023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ja-JP" sz="3200" dirty="0"/>
              <a:t>MOS</a:t>
            </a:r>
            <a:r>
              <a:rPr lang="ja-JP" altLang="en-US" sz="3200" dirty="0"/>
              <a:t>の論理回路</a:t>
            </a:r>
            <a:r>
              <a:rPr lang="en-US" altLang="ja-JP" sz="3200" dirty="0"/>
              <a:t>(nor</a:t>
            </a:r>
            <a:r>
              <a:rPr lang="ja-JP" altLang="en-US" sz="3200" dirty="0"/>
              <a:t>回路とレイアウト</a:t>
            </a:r>
            <a:r>
              <a:rPr lang="en-US" altLang="ja-JP" sz="3200" dirty="0"/>
              <a:t>)</a:t>
            </a:r>
            <a:endParaRPr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8271802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DA84C90-CE54-7B4B-365A-2E11AF027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38C6-DFEE-4049-817C-214F39B6A44B}" type="slidenum">
              <a:rPr kumimoji="1" lang="ja-JP" altLang="en-US" smtClean="0"/>
              <a:t>15</a:t>
            </a:fld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35ED7E3-193E-DFE0-E79B-1E9162A76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037" y="2338600"/>
            <a:ext cx="2876393" cy="3219175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2E47BFAE-1A26-A31B-C7CB-334F7EA1C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3198" y="2297056"/>
            <a:ext cx="1899507" cy="3260719"/>
          </a:xfrm>
          <a:prstGeom prst="rect">
            <a:avLst/>
          </a:prstGeom>
        </p:spPr>
      </p:pic>
      <p:sp>
        <p:nvSpPr>
          <p:cNvPr id="12" name="タイトル 1">
            <a:extLst>
              <a:ext uri="{FF2B5EF4-FFF2-40B4-BE49-F238E27FC236}">
                <a16:creationId xmlns:a16="http://schemas.microsoft.com/office/drawing/2014/main" id="{4391F2CE-6720-480D-BD67-956E9D6C0887}"/>
              </a:ext>
            </a:extLst>
          </p:cNvPr>
          <p:cNvSpPr txBox="1">
            <a:spLocks/>
          </p:cNvSpPr>
          <p:nvPr/>
        </p:nvSpPr>
        <p:spPr>
          <a:xfrm>
            <a:off x="899731" y="725394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ja-JP" sz="3200" dirty="0"/>
              <a:t>MOS</a:t>
            </a:r>
            <a:r>
              <a:rPr lang="ja-JP" altLang="en-US" sz="3200" dirty="0"/>
              <a:t>の論理回路</a:t>
            </a:r>
            <a:r>
              <a:rPr lang="en-US" altLang="ja-JP" sz="3200" dirty="0"/>
              <a:t>(</a:t>
            </a:r>
            <a:r>
              <a:rPr lang="en-US" altLang="ja-JP" sz="3200" dirty="0" err="1"/>
              <a:t>nand</a:t>
            </a:r>
            <a:r>
              <a:rPr lang="ja-JP" altLang="en-US" sz="3200" dirty="0"/>
              <a:t>回路とレイアウト</a:t>
            </a:r>
            <a:r>
              <a:rPr lang="en-US" altLang="ja-JP" sz="3200" dirty="0"/>
              <a:t>)</a:t>
            </a:r>
            <a:endParaRPr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776197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220D37-4FB0-39E6-6E6A-C9C381C3E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1" lang="en-US" altLang="ja-JP" sz="4000" dirty="0"/>
              <a:t>IO</a:t>
            </a:r>
            <a:r>
              <a:rPr kumimoji="1" lang="ja-JP" altLang="en-US" sz="4000" dirty="0"/>
              <a:t>周辺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8649F6E-CDB0-3A67-5D2F-1DB1FAEE7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98C5A10-4C1E-36F7-3EF4-DB3535468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38C6-DFEE-4049-817C-214F39B6A44B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5509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220D37-4FB0-39E6-6E6A-C9C381C3E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1" lang="ja-JP" altLang="en-US" sz="4000" dirty="0"/>
              <a:t>標準ロジックの</a:t>
            </a:r>
            <a:r>
              <a:rPr kumimoji="1" lang="en-US" altLang="ja-JP" sz="4000" dirty="0"/>
              <a:t>IO</a:t>
            </a:r>
            <a:r>
              <a:rPr kumimoji="1" lang="ja-JP" altLang="en-US" sz="4000" dirty="0"/>
              <a:t>トレラント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8649F6E-CDB0-3A67-5D2F-1DB1FAEE7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EA3DFE4-1C4D-3922-2B1A-402FB8410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38C6-DFEE-4049-817C-214F39B6A44B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50698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220D37-4FB0-39E6-6E6A-C9C381C3E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sz="2400" dirty="0"/>
              <a:t>PN</a:t>
            </a:r>
            <a:r>
              <a:rPr lang="ja-JP" altLang="en-US" sz="2400" dirty="0"/>
              <a:t>接合温度係数</a:t>
            </a:r>
            <a:endParaRPr kumimoji="1" lang="ja-JP" altLang="en-US" sz="24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98C5A10-4C1E-36F7-3EF4-DB3535468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38C6-DFEE-4049-817C-214F39B6A44B}" type="slidenum">
              <a:rPr kumimoji="1" lang="ja-JP" altLang="en-US" smtClean="0"/>
              <a:t>18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A4CB1E69-E60A-0938-5F45-110B6C72A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892" y="1566109"/>
            <a:ext cx="4175325" cy="3529144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4FE71E87-B149-D7AB-F93D-294B1603A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015" y="5293914"/>
            <a:ext cx="4175326" cy="653902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8F833CB8-3E39-12E8-DD5B-AE8C3A0D49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2274" y="2934971"/>
            <a:ext cx="1919426" cy="1302468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18DCB847-8D9E-582A-797A-8F0B0159FB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9874" y="1504716"/>
            <a:ext cx="2242405" cy="1325057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B5C0BF67-C78C-E260-4588-E134C94D32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0093" y="4342637"/>
            <a:ext cx="1486307" cy="1774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482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220D37-4FB0-39E6-6E6A-C9C381C3E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739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kumimoji="1" lang="ja-JP" altLang="en-US" sz="3200" dirty="0"/>
              <a:t>シャントレギュレータ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8649F6E-CDB0-3A67-5D2F-1DB1FAEE7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28665"/>
            <a:ext cx="7886700" cy="1030930"/>
          </a:xfrm>
        </p:spPr>
        <p:txBody>
          <a:bodyPr>
            <a:normAutofit fontScale="77500" lnSpcReduction="20000"/>
          </a:bodyPr>
          <a:lstStyle/>
          <a:p>
            <a:r>
              <a:rPr kumimoji="1" lang="en-US" altLang="ja-JP" sz="2000" dirty="0"/>
              <a:t>ADC</a:t>
            </a:r>
            <a:r>
              <a:rPr kumimoji="1" lang="ja-JP" altLang="en-US" sz="2000" dirty="0"/>
              <a:t>などの基準電圧に多用される。</a:t>
            </a:r>
            <a:r>
              <a:rPr kumimoji="1" lang="en-US" altLang="ja-JP" sz="2000" dirty="0"/>
              <a:t>(TL431</a:t>
            </a:r>
            <a:r>
              <a:rPr kumimoji="1" lang="ja-JP" altLang="en-US" sz="2000" dirty="0"/>
              <a:t>等</a:t>
            </a:r>
            <a:r>
              <a:rPr kumimoji="1" lang="en-US" altLang="ja-JP" sz="2000" dirty="0"/>
              <a:t>)</a:t>
            </a:r>
            <a:r>
              <a:rPr kumimoji="1" lang="ja-JP" altLang="en-US" sz="2000" dirty="0"/>
              <a:t>。温特、バラ付きの少ない。</a:t>
            </a:r>
            <a:r>
              <a:rPr kumimoji="1" lang="en-US" altLang="ja-JP" sz="2000" dirty="0"/>
              <a:t> </a:t>
            </a:r>
          </a:p>
          <a:p>
            <a:r>
              <a:rPr lang="ja-JP" altLang="en-US" sz="2000" dirty="0"/>
              <a:t>温度補償は</a:t>
            </a:r>
            <a:r>
              <a:rPr lang="en-US" altLang="ja-JP" sz="2000" dirty="0"/>
              <a:t>PN</a:t>
            </a:r>
            <a:r>
              <a:rPr lang="ja-JP" altLang="en-US" sz="2000" dirty="0"/>
              <a:t>ジャンクションを使って、負の温度特性と正の温度特性を相殺さ</a:t>
            </a:r>
            <a:endParaRPr lang="en-US" altLang="ja-JP" sz="2000" dirty="0"/>
          </a:p>
          <a:p>
            <a:pPr marL="0" indent="0">
              <a:buNone/>
            </a:pPr>
            <a:r>
              <a:rPr lang="ja-JP" altLang="en-US" sz="2000" dirty="0"/>
              <a:t>　せるテクニックを用いる。</a:t>
            </a:r>
            <a:r>
              <a:rPr lang="en-US" altLang="ja-JP" sz="2000" dirty="0"/>
              <a:t>(</a:t>
            </a:r>
            <a:r>
              <a:rPr lang="ja-JP" altLang="en-US" sz="2000" dirty="0"/>
              <a:t>温特を補正する回路</a:t>
            </a:r>
            <a:r>
              <a:rPr lang="en-US" altLang="ja-JP" sz="2000" dirty="0"/>
              <a:t>)</a:t>
            </a:r>
          </a:p>
          <a:p>
            <a:endParaRPr kumimoji="1" lang="ja-JP" altLang="en-US" sz="20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EA3DFE4-1C4D-3922-2B1A-402FB8410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38C6-DFEE-4049-817C-214F39B6A44B}" type="slidenum">
              <a:rPr kumimoji="1" lang="ja-JP" altLang="en-US" smtClean="0"/>
              <a:t>19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D1289D14-1471-4C8B-9C49-3D025C497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229" y="4264731"/>
            <a:ext cx="1863363" cy="1942938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012AB67-8067-14B3-BA2F-63FEAB679C21}"/>
              </a:ext>
            </a:extLst>
          </p:cNvPr>
          <p:cNvSpPr txBox="1"/>
          <p:nvPr/>
        </p:nvSpPr>
        <p:spPr>
          <a:xfrm>
            <a:off x="706122" y="6187074"/>
            <a:ext cx="22595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/>
              <a:t>温特を補正する回路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EF22DB2C-470E-BD72-35F0-BB42616CF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3636" y="4179906"/>
            <a:ext cx="2384330" cy="2112587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17C5BCF7-F65C-6EC1-75EF-30D524B28D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262" y="4523553"/>
            <a:ext cx="1804784" cy="1684116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B3464D7F-ED19-7482-D1EB-A5C51BEB6611}"/>
              </a:ext>
            </a:extLst>
          </p:cNvPr>
          <p:cNvGrpSpPr/>
          <p:nvPr/>
        </p:nvGrpSpPr>
        <p:grpSpPr>
          <a:xfrm>
            <a:off x="628650" y="2198506"/>
            <a:ext cx="4009460" cy="1105054"/>
            <a:chOff x="706122" y="2323946"/>
            <a:chExt cx="4009460" cy="1105054"/>
          </a:xfrm>
        </p:grpSpPr>
        <p:pic>
          <p:nvPicPr>
            <p:cNvPr id="16" name="図 15">
              <a:extLst>
                <a:ext uri="{FF2B5EF4-FFF2-40B4-BE49-F238E27FC236}">
                  <a16:creationId xmlns:a16="http://schemas.microsoft.com/office/drawing/2014/main" id="{144F438D-5B4A-23CF-26DE-2800E895CE7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6122" y="2323946"/>
              <a:ext cx="2838846" cy="1105054"/>
            </a:xfrm>
            <a:prstGeom prst="rect">
              <a:avLst/>
            </a:prstGeom>
          </p:spPr>
        </p:pic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A787D316-C2D9-129A-163F-3CC0FD89B068}"/>
                </a:ext>
              </a:extLst>
            </p:cNvPr>
            <p:cNvSpPr txBox="1"/>
            <p:nvPr/>
          </p:nvSpPr>
          <p:spPr>
            <a:xfrm>
              <a:off x="1032462" y="2599474"/>
              <a:ext cx="14131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200" dirty="0"/>
                <a:t>順方向電圧</a:t>
              </a:r>
            </a:p>
          </p:txBody>
        </p:sp>
        <p:cxnSp>
          <p:nvCxnSpPr>
            <p:cNvPr id="19" name="直線矢印コネクタ 18">
              <a:extLst>
                <a:ext uri="{FF2B5EF4-FFF2-40B4-BE49-F238E27FC236}">
                  <a16:creationId xmlns:a16="http://schemas.microsoft.com/office/drawing/2014/main" id="{4BB34620-80F3-B9FD-5057-DA70DC2AB2D4}"/>
                </a:ext>
              </a:extLst>
            </p:cNvPr>
            <p:cNvCxnSpPr/>
            <p:nvPr/>
          </p:nvCxnSpPr>
          <p:spPr>
            <a:xfrm flipV="1">
              <a:off x="2372906" y="2876473"/>
              <a:ext cx="72720" cy="3352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5C456E85-8D24-F0F2-F9F7-35C2DE06ACE9}"/>
                </a:ext>
              </a:extLst>
            </p:cNvPr>
            <p:cNvSpPr txBox="1"/>
            <p:nvPr/>
          </p:nvSpPr>
          <p:spPr>
            <a:xfrm>
              <a:off x="2445625" y="2920993"/>
              <a:ext cx="226995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000" dirty="0" err="1"/>
                <a:t>Vf</a:t>
              </a:r>
              <a:r>
                <a:rPr kumimoji="1" lang="ja-JP" altLang="en-US" sz="1000" dirty="0"/>
                <a:t>は、負の温度特性（</a:t>
              </a:r>
              <a:r>
                <a:rPr kumimoji="1" lang="en-US" altLang="ja-JP" sz="1000" dirty="0"/>
                <a:t>-3mV/</a:t>
              </a:r>
              <a:r>
                <a:rPr kumimoji="1" lang="ja-JP" altLang="en-US" sz="1000" dirty="0"/>
                <a:t>℃）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42496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220D37-4FB0-39E6-6E6A-C9C381C3E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ja-JP" sz="4000" dirty="0"/>
              <a:t>CCD</a:t>
            </a:r>
            <a:r>
              <a:rPr lang="ja-JP" altLang="en-US" sz="4000" dirty="0"/>
              <a:t>、</a:t>
            </a:r>
            <a:r>
              <a:rPr lang="en-US" altLang="ja-JP" sz="4000" dirty="0"/>
              <a:t>MOS</a:t>
            </a:r>
            <a:r>
              <a:rPr lang="ja-JP" altLang="en-US" sz="4000" dirty="0"/>
              <a:t>センサの動作</a:t>
            </a:r>
            <a:endParaRPr kumimoji="1" lang="ja-JP" altLang="en-US" sz="40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8649F6E-CDB0-3A67-5D2F-1DB1FAEE7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83EFACE-E617-F542-DF66-FACA86824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38C6-DFEE-4049-817C-214F39B6A44B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1603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1642</TotalTime>
  <Words>393</Words>
  <Application>Microsoft Office PowerPoint</Application>
  <PresentationFormat>画面に合わせる (4:3)</PresentationFormat>
  <Paragraphs>65</Paragraphs>
  <Slides>20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6" baseType="lpstr">
      <vt:lpstr>游ゴシック</vt:lpstr>
      <vt:lpstr>Aptos</vt:lpstr>
      <vt:lpstr>Aptos Display</vt:lpstr>
      <vt:lpstr>Arial</vt:lpstr>
      <vt:lpstr>Calibri</vt:lpstr>
      <vt:lpstr>Office テーマ</vt:lpstr>
      <vt:lpstr>MOS-TrとICの基本&amp;Tips (Part 1)</vt:lpstr>
      <vt:lpstr>PowerPoint プレゼンテーション</vt:lpstr>
      <vt:lpstr>MOS-Trのディスクリート＆ICのデバイス構造</vt:lpstr>
      <vt:lpstr>N型半導体とp型半導体</vt:lpstr>
      <vt:lpstr>MOSトランジスタの動作</vt:lpstr>
      <vt:lpstr>MOSトランジスタの動作</vt:lpstr>
      <vt:lpstr>線形領域と飽和領域</vt:lpstr>
      <vt:lpstr>ドレイン電流</vt:lpstr>
      <vt:lpstr>MOSトランジスタの小信号モデル</vt:lpstr>
      <vt:lpstr>スイッチ特性</vt:lpstr>
      <vt:lpstr>MOSFETの閾値電圧と基板バイアス効果</vt:lpstr>
      <vt:lpstr>Bipolarトランジスタのデバイス構造</vt:lpstr>
      <vt:lpstr>MOSの論理回路(inv回路とレイアウト)</vt:lpstr>
      <vt:lpstr>PowerPoint プレゼンテーション</vt:lpstr>
      <vt:lpstr>PowerPoint プレゼンテーション</vt:lpstr>
      <vt:lpstr>IO周辺</vt:lpstr>
      <vt:lpstr>標準ロジックのIOトレラント</vt:lpstr>
      <vt:lpstr>PN接合温度係数</vt:lpstr>
      <vt:lpstr>シャントレギュレータ</vt:lpstr>
      <vt:lpstr>CCD、MOSセンサの動作</vt:lpstr>
    </vt:vector>
  </TitlesOfParts>
  <Company>DENSO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Hiroya Ito (伊藤 浩也)</dc:creator>
  <cp:lastModifiedBy>Hiroya Ito (伊藤 浩也)</cp:lastModifiedBy>
  <cp:revision>49</cp:revision>
  <dcterms:created xsi:type="dcterms:W3CDTF">2025-11-24T09:23:12Z</dcterms:created>
  <dcterms:modified xsi:type="dcterms:W3CDTF">2025-11-28T05:21:42Z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ed1414a-99f2-46f9-bbe5-740af8d1b502_Enabled">
    <vt:lpwstr>true</vt:lpwstr>
  </property>
  <property fmtid="{D5CDD505-2E9C-101B-9397-08002B2CF9AE}" pid="3" name="MSIP_Label_7ed1414a-99f2-46f9-bbe5-740af8d1b502_SetDate">
    <vt:lpwstr>2025-11-24T09:25:03Z</vt:lpwstr>
  </property>
  <property fmtid="{D5CDD505-2E9C-101B-9397-08002B2CF9AE}" pid="4" name="MSIP_Label_7ed1414a-99f2-46f9-bbe5-740af8d1b502_Method">
    <vt:lpwstr>Standard</vt:lpwstr>
  </property>
  <property fmtid="{D5CDD505-2E9C-101B-9397-08002B2CF9AE}" pid="5" name="MSIP_Label_7ed1414a-99f2-46f9-bbe5-740af8d1b502_Name">
    <vt:lpwstr>G_MIP_Confidential_Standard</vt:lpwstr>
  </property>
  <property fmtid="{D5CDD505-2E9C-101B-9397-08002B2CF9AE}" pid="6" name="MSIP_Label_7ed1414a-99f2-46f9-bbe5-740af8d1b502_SiteId">
    <vt:lpwstr>69405920-b673-4f7c-8845-e124e9d08af2</vt:lpwstr>
  </property>
  <property fmtid="{D5CDD505-2E9C-101B-9397-08002B2CF9AE}" pid="7" name="MSIP_Label_7ed1414a-99f2-46f9-bbe5-740af8d1b502_ActionId">
    <vt:lpwstr>8ebecd3b-8abe-448d-b267-bbc7853f4932</vt:lpwstr>
  </property>
  <property fmtid="{D5CDD505-2E9C-101B-9397-08002B2CF9AE}" pid="8" name="MSIP_Label_7ed1414a-99f2-46f9-bbe5-740af8d1b502_ContentBits">
    <vt:lpwstr>1</vt:lpwstr>
  </property>
  <property fmtid="{D5CDD505-2E9C-101B-9397-08002B2CF9AE}" pid="9" name="ClassificationContentMarkingHeaderLocations">
    <vt:lpwstr>Office テーマ:8</vt:lpwstr>
  </property>
  <property fmtid="{D5CDD505-2E9C-101B-9397-08002B2CF9AE}" pid="10" name="ClassificationContentMarkingHeaderText">
    <vt:lpwstr>CONFIDENTIAL</vt:lpwstr>
  </property>
</Properties>
</file>